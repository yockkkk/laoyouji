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A8CC"/>
                </a:solidFill>
                <a:latin typeface="SimHei"/>
              </a:defRPr>
            </a:pPr>
            <a:r>
              <a:t>第八届湖南省大学生智能导航科技创新大赛 · 科技创意类作品</a:t>
            </a:r>
          </a:p>
          <a:p>
            <a:pPr>
              <a:spcBef>
                <a:spcPts val="1600"/>
              </a:spcBef>
              <a:defRPr sz="4000" b="1">
                <a:solidFill>
                  <a:srgbClr val="FFFFFF"/>
                </a:solidFill>
                <a:latin typeface="SimHei"/>
              </a:defRPr>
            </a:pPr>
            <a:r>
              <a:t>银发导航智能体</a:t>
            </a:r>
          </a:p>
          <a:p>
            <a:pPr>
              <a:spcBef>
                <a:spcPts val="800"/>
              </a:spcBef>
              <a:defRPr sz="2400" b="1">
                <a:solidFill>
                  <a:srgbClr val="E0E7FF"/>
                </a:solidFill>
                <a:latin typeface="SimHei"/>
              </a:defRPr>
            </a:pPr>
            <a:r>
              <a:t>基于多Agent协同的老年人安心出行伴侣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  <a:latin typeface="SimSun"/>
              </a:defRPr>
            </a:pPr>
            <a:r>
              <a:t>深度融合北斗卫星高精时空感知 · 适老化微地形代价路由 · 亲情双向守护闭环</a:t>
            </a:r>
          </a:p>
          <a:p>
            <a:pPr>
              <a:spcBef>
                <a:spcPts val="4000"/>
              </a:spcBef>
              <a:defRPr sz="1100">
                <a:solidFill>
                  <a:srgbClr val="64748B"/>
                </a:solidFill>
                <a:latin typeface="SimSun"/>
              </a:defRPr>
            </a:pPr>
            <a:r>
              <a:t>主办单位：湖南省教育厅  |  承办单位：国防科技大学、测控与导航技术联合工程研究中心、湘南学院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A8CC"/>
                </a:solidFill>
                <a:latin typeface="SimHei"/>
              </a:defRPr>
            </a:pPr>
            <a:r>
              <a:t>第八届湖南省大学生智能导航科技创新大赛 · 科技创意类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  <a:latin typeface="SimHei"/>
              </a:defRPr>
            </a:pPr>
            <a:r>
              <a:t>一、 立项背景与银发群体出行三大核心痛点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A8CC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 b="1">
                <a:solidFill>
                  <a:srgbClr val="0F2043"/>
                </a:solidFill>
                <a:latin typeface="SimHei"/>
              </a:defRPr>
            </a:pPr>
            <a:r>
              <a:t>痛点 1：传统导航算法不适老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100">
                <a:solidFill>
                  <a:srgbClr val="64748B"/>
                </a:solidFill>
                <a:latin typeface="SimSun"/>
              </a:defRPr>
            </a:pPr>
            <a:r>
              <a:t>主流地图追求'距离最短/时间最短'，常推荐陡坡、长台阶、无盲道及复杂过街天桥，导致行动不便的老人寸步难行或面临跌倒风险。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A8CC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 b="1">
                <a:solidFill>
                  <a:srgbClr val="0F2043"/>
                </a:solidFill>
                <a:latin typeface="SimHei"/>
              </a:defRPr>
            </a:pPr>
            <a:r>
              <a:t>痛点 2：数字交互门槛高与弱智反问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100">
                <a:solidFill>
                  <a:srgbClr val="64748B"/>
                </a:solidFill>
                <a:latin typeface="SimSun"/>
              </a:defRPr>
            </a:pPr>
            <a:r>
              <a:t>多层级菜单、小字号密集信息及多轮询问让老人望而却步；语音识别缺乏方言鲁棒性与语义宽容度，无法自主形成行动闭环。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82880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A8CC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 b="1">
                <a:solidFill>
                  <a:srgbClr val="0F2043"/>
                </a:solidFill>
                <a:latin typeface="SimHei"/>
              </a:defRPr>
            </a:pPr>
            <a:r>
              <a:t>痛点 3：出行意外频发与子女监护悬空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100">
                <a:solidFill>
                  <a:srgbClr val="64748B"/>
                </a:solidFill>
                <a:latin typeface="SimSun"/>
              </a:defRPr>
            </a:pPr>
            <a:r>
              <a:t>老人走失、偏航迷路、遭遇涉诈出行推销频发；子女远在异地无法感知实时轨迹，缺乏可靠的'北斗高精电子围栏'与双向安心响应机制。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A8CC"/>
                </a:solidFill>
                <a:latin typeface="SimHei"/>
              </a:defRPr>
            </a:pPr>
            <a:r>
              <a:t>第八届湖南省大学生智能导航科技创新大赛 · 科技创意类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  <a:latin typeface="SimHei"/>
              </a:defRPr>
            </a:pPr>
            <a:r>
              <a:t>二、 整体架构设计：北斗时空赋能的多Agent协同网络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43"/>
                </a:solidFill>
                <a:latin typeface="SimHei"/>
              </a:defRPr>
            </a:pPr>
            <a:r>
              <a:t>5 大协同智能体家族分工</a:t>
            </a:r>
          </a:p>
          <a:p>
            <a:pPr>
              <a:spcBef>
                <a:spcPts val="800"/>
              </a:spcBef>
              <a:defRPr sz="1100" b="1">
                <a:solidFill>
                  <a:srgbClr val="1F4E79"/>
                </a:solidFill>
                <a:latin typeface="SimHei"/>
              </a:defRPr>
            </a:pPr>
            <a:r>
              <a:t>• 总调度智能体 (Main Agent)</a:t>
            </a:r>
          </a:p>
          <a:p>
            <a:pPr>
              <a:defRPr sz="950">
                <a:solidFill>
                  <a:srgbClr val="64748B"/>
                </a:solidFill>
                <a:latin typeface="SimSun"/>
              </a:defRPr>
            </a:pPr>
            <a:r>
              <a:t>   负责全域上下文感知、意图解析、任务并行分发与闭环决策。</a:t>
            </a:r>
          </a:p>
          <a:p>
            <a:pPr>
              <a:spcBef>
                <a:spcPts val="800"/>
              </a:spcBef>
              <a:defRPr sz="1100" b="1">
                <a:solidFill>
                  <a:srgbClr val="1F4E79"/>
                </a:solidFill>
                <a:latin typeface="SimHei"/>
              </a:defRPr>
            </a:pPr>
            <a:r>
              <a:t>• 健康体能智能体 (Health Agent)</a:t>
            </a:r>
          </a:p>
          <a:p>
            <a:pPr>
              <a:defRPr sz="950">
                <a:solidFill>
                  <a:srgbClr val="64748B"/>
                </a:solidFill>
                <a:latin typeface="SimSun"/>
              </a:defRPr>
            </a:pPr>
            <a:r>
              <a:t>   读取慢病病史、关节炎/体能档案，输出最大步速与地形约束。</a:t>
            </a:r>
          </a:p>
          <a:p>
            <a:pPr>
              <a:spcBef>
                <a:spcPts val="800"/>
              </a:spcBef>
              <a:defRPr sz="1100" b="1">
                <a:solidFill>
                  <a:srgbClr val="1F4E79"/>
                </a:solidFill>
                <a:latin typeface="SimHei"/>
              </a:defRPr>
            </a:pPr>
            <a:r>
              <a:t>• 北斗导航智能体 (BDS Nav Agent)</a:t>
            </a:r>
          </a:p>
          <a:p>
            <a:pPr>
              <a:defRPr sz="950">
                <a:solidFill>
                  <a:srgbClr val="64748B"/>
                </a:solidFill>
                <a:latin typeface="SimSun"/>
              </a:defRPr>
            </a:pPr>
            <a:r>
              <a:t>   对接北斗时空服务，计算微地形代价路由与高精走廊。</a:t>
            </a:r>
          </a:p>
          <a:p>
            <a:pPr>
              <a:spcBef>
                <a:spcPts val="800"/>
              </a:spcBef>
              <a:defRPr sz="1100" b="1">
                <a:solidFill>
                  <a:srgbClr val="1F4E79"/>
                </a:solidFill>
                <a:latin typeface="SimHei"/>
              </a:defRPr>
            </a:pPr>
            <a:r>
              <a:t>• 气象感知智能体 (Weather Agent)</a:t>
            </a:r>
          </a:p>
          <a:p>
            <a:pPr>
              <a:defRPr sz="950">
                <a:solidFill>
                  <a:srgbClr val="64748B"/>
                </a:solidFill>
                <a:latin typeface="SimSun"/>
              </a:defRPr>
            </a:pPr>
            <a:r>
              <a:t>   监测高温暴雨结冰突变，动态触发路线修正或打车接驳。</a:t>
            </a:r>
          </a:p>
          <a:p>
            <a:pPr>
              <a:spcBef>
                <a:spcPts val="800"/>
              </a:spcBef>
              <a:defRPr sz="1100" b="1">
                <a:solidFill>
                  <a:srgbClr val="1F4E79"/>
                </a:solidFill>
                <a:latin typeface="SimHei"/>
              </a:defRPr>
            </a:pPr>
            <a:r>
              <a:t>• 安全守护智能体 (Guardian Agent)</a:t>
            </a:r>
          </a:p>
          <a:p>
            <a:pPr>
              <a:defRPr sz="950">
                <a:solidFill>
                  <a:srgbClr val="64748B"/>
                </a:solidFill>
                <a:latin typeface="SimSun"/>
              </a:defRPr>
            </a:pPr>
            <a:r>
              <a:t>   负责电子围栏实时越界计算、异常滞留告警与反诈拦截。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43"/>
                </a:solidFill>
                <a:latin typeface="SimHei"/>
              </a:defRPr>
            </a:pPr>
            <a:r>
              <a:t>端-边-云与事件总线底座</a:t>
            </a:r>
          </a:p>
          <a:p>
            <a:pPr>
              <a:spcBef>
                <a:spcPts val="1000"/>
              </a:spcBef>
              <a:defRPr sz="1100" b="1">
                <a:solidFill>
                  <a:srgbClr val="00A8CC"/>
                </a:solidFill>
                <a:latin typeface="SimHei"/>
              </a:defRPr>
            </a:pPr>
            <a:r>
              <a:t>✓ 微内核全序事件总线</a:t>
            </a:r>
          </a:p>
          <a:p>
            <a:pPr>
              <a:defRPr sz="950">
                <a:solidFill>
                  <a:srgbClr val="64748B"/>
                </a:solidFill>
                <a:latin typeface="SimSun"/>
              </a:defRPr>
            </a:pPr>
            <a:r>
              <a:t>   基于 Durable Event 架构，所有交互与决策落库可溯源、零死锁。</a:t>
            </a:r>
          </a:p>
          <a:p>
            <a:pPr>
              <a:spcBef>
                <a:spcPts val="1000"/>
              </a:spcBef>
              <a:defRPr sz="1100" b="1">
                <a:solidFill>
                  <a:srgbClr val="00A8CC"/>
                </a:solidFill>
                <a:latin typeface="SimHei"/>
              </a:defRPr>
            </a:pPr>
            <a:r>
              <a:t>✓ 单轮自主闭环机制</a:t>
            </a:r>
          </a:p>
          <a:p>
            <a:pPr>
              <a:defRPr sz="950">
                <a:solidFill>
                  <a:srgbClr val="64748B"/>
                </a:solidFill>
                <a:latin typeface="SimSun"/>
              </a:defRPr>
            </a:pPr>
            <a:r>
              <a:t>   长辈一句话发起，系统各 Agent 自动化协商交付，拒绝反问推诿。</a:t>
            </a:r>
          </a:p>
          <a:p>
            <a:pPr>
              <a:spcBef>
                <a:spcPts val="1000"/>
              </a:spcBef>
              <a:defRPr sz="1100" b="1">
                <a:solidFill>
                  <a:srgbClr val="00A8CC"/>
                </a:solidFill>
                <a:latin typeface="SimHei"/>
              </a:defRPr>
            </a:pPr>
            <a:r>
              <a:t>✓ CGCS2000 国家大地坐标系解算</a:t>
            </a:r>
          </a:p>
          <a:p>
            <a:pPr>
              <a:defRPr sz="950">
                <a:solidFill>
                  <a:srgbClr val="64748B"/>
                </a:solidFill>
                <a:latin typeface="SimSun"/>
              </a:defRPr>
            </a:pPr>
            <a:r>
              <a:t>   严谨执行大地几何椭球投影与 NMEA-0183 卫星报文校验。</a:t>
            </a:r>
          </a:p>
          <a:p>
            <a:pPr>
              <a:spcBef>
                <a:spcPts val="1000"/>
              </a:spcBef>
              <a:defRPr sz="1100" b="1">
                <a:solidFill>
                  <a:srgbClr val="00A8CC"/>
                </a:solidFill>
                <a:latin typeface="SimHei"/>
              </a:defRPr>
            </a:pPr>
            <a:r>
              <a:t>✓ 双端透明协同机制</a:t>
            </a:r>
          </a:p>
          <a:p>
            <a:pPr>
              <a:defRPr sz="950">
                <a:solidFill>
                  <a:srgbClr val="64748B"/>
                </a:solidFill>
                <a:latin typeface="SimSun"/>
              </a:defRPr>
            </a:pPr>
            <a:r>
              <a:t>   长辈端极简操作 + 子女端全维数字孪生大屏，形成家庭守护纽带。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A8CC"/>
                </a:solidFill>
                <a:latin typeface="SimHei"/>
              </a:defRPr>
            </a:pPr>
            <a:r>
              <a:t>第八届湖南省大学生智能导航科技创新大赛 · 科技创意类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  <a:latin typeface="SimHei"/>
              </a:defRPr>
            </a:pPr>
            <a:r>
              <a:t>三、 北斗深度融合：高精时空基准与适老微地形代价模型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SimHei"/>
              </a:defRPr>
            </a:pPr>
            <a:r>
              <a:t>亚米级高精时空接入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深度接入中国北斗地基增强网与卫星授时，达到亚米级车道与步道级精准定位，有效抵御城市峡谷遮挡与多路径效应。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SimHei"/>
              </a:defRPr>
            </a:pPr>
            <a:r>
              <a:t>微地形通行代价方程 (Cost Formula)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构建适老代价模型：Cost = L * (1 + W_slope * Slope^2 + W_step * N_steps - W_shade * Shade)；对台阶施加 10 倍惩罚权重，彻底杜绝长坡与陡梯。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60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SimHei"/>
              </a:defRPr>
            </a:pPr>
            <a:r>
              <a:t>动态安全走廊 (BDS Corridor)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依托北斗亚米级轨迹建立 25 米半径球面动态廊道缓冲带；一旦偏离即刻启动声控指引，杜绝老人迷失。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60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SimHei"/>
              </a:defRPr>
            </a:pPr>
            <a:r>
              <a:t>北斗特种通信与应急概念联动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预置北斗短报文与一键 SOS 救援信标，在公网信号盲区仍可发射带高精经纬度的求助脉冲。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A8CC"/>
                </a:solidFill>
                <a:latin typeface="SimHei"/>
              </a:defRPr>
            </a:pPr>
            <a:r>
              <a:t>第八届湖南省大学生智能导航科技创新大赛 · 科技创意类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  <a:latin typeface="SimHei"/>
              </a:defRPr>
            </a:pPr>
            <a:r>
              <a:t>四、 适老化极简交互：实景地标导航与大白话语音直达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828800"/>
            <a:ext cx="223113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2043"/>
                </a:solidFill>
                <a:latin typeface="SimHei"/>
              </a:defRPr>
            </a:pPr>
            <a:r>
              <a:t>大白话一键语音直达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无需手动输入起点与参数，长按大麦克风说出'想去烈士公园走走，腿有点酸'，智能体自动提取意图与身体状态。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93592" y="1828800"/>
            <a:ext cx="223113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2043"/>
                </a:solidFill>
                <a:latin typeface="SimHei"/>
              </a:defRPr>
            </a:pPr>
            <a:r>
              <a:t>地标式路口实景引导卡片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摒弃传统'200米后向东北方向转弯'等抽象术语，采用'过益丰大药房右转'、'顺着林荫平道直走'等醒目地标提示。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828800"/>
            <a:ext cx="223113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2043"/>
                </a:solidFill>
                <a:latin typeface="SimHei"/>
              </a:defRPr>
            </a:pPr>
            <a:r>
              <a:t>北斗卫星遥测状态感知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界面常驻 BDS 卫星遥测条（如 12 颗 BDS 亚米级锁定），给予老人和家属极强的高科技确定感与安全感。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1828800"/>
            <a:ext cx="223113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2043"/>
                </a:solidFill>
                <a:latin typeface="SimHei"/>
              </a:defRPr>
            </a:pPr>
            <a:r>
              <a:t>声控偏航与迷路自动纠偏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监测到步道偏离时，不发出刺耳蜂鸣，而是通过温柔和蔼的长辈语调进行大白话原路纠偏。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A8CC"/>
                </a:solidFill>
                <a:latin typeface="SimHei"/>
              </a:defRPr>
            </a:pPr>
            <a:r>
              <a:t>第八届湖南省大学生智能导航科技创新大赛 · 科技创意类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  <a:latin typeface="SimHei"/>
              </a:defRPr>
            </a:pPr>
            <a:r>
              <a:t>五、 子女端安心守护大屏：北斗电子围栏与亲情双向闭环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SimHei"/>
              </a:defRPr>
            </a:pPr>
            <a:r>
              <a:t>实时数字孪生轨迹看板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子女端全屏呈现父母实时位置、行进航向、当前步速及剩余行程，全天行程自动绘制平滑时空轨迹。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SimHei"/>
              </a:defRPr>
            </a:pPr>
            <a:r>
              <a:t>多级多边形北斗电子围栏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支持绘制'常住小区-菜市场-社区医院'安全活动区；出圈毫秒级触发微信/App推送，越界风险无死角。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60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SimHei"/>
              </a:defRPr>
            </a:pPr>
            <a:r>
              <a:t>异常静止与超时滞留检测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在非长椅休闲区静止超 25 分钟时，系统自动判定疑似身体不适或摔倒，触发分级警报与子女代呼叫。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60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SimHei"/>
              </a:defRPr>
            </a:pPr>
            <a:r>
              <a:t>一键报平安与代办托管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老人到站一键触达'已平安抵达'语音卡片；子女可远程代订适老专车或预约就医挂号，形成孝心闭环。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A8CC"/>
                </a:solidFill>
                <a:latin typeface="SimHei"/>
              </a:defRPr>
            </a:pPr>
            <a:r>
              <a:t>第八届湖南省大学生智能导航科技创新大赛 · 科技创意类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  <a:latin typeface="SimHei"/>
              </a:defRPr>
            </a:pPr>
            <a:r>
              <a:t>六、 突发风险主动防御：防诈拦截与就医急救绿通秒级重划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43"/>
                </a:solidFill>
                <a:latin typeface="SimHei"/>
              </a:defRPr>
            </a:pPr>
            <a:r>
              <a:t>涉诈与高危行程前置拦截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100">
                <a:solidFill>
                  <a:srgbClr val="64748B"/>
                </a:solidFill>
                <a:latin typeface="SimSun"/>
              </a:defRPr>
            </a:pPr>
            <a:r>
              <a:t>对长辈前往偏远保健品推销窝点、异常高额消费场所进行主动风险警示与子女强提醒，从源头切断银发诈骗。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43"/>
                </a:solidFill>
                <a:latin typeface="SimHei"/>
              </a:defRPr>
            </a:pPr>
            <a:r>
              <a:t>突发急症就医绿通秒级重划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100">
                <a:solidFill>
                  <a:srgbClr val="64748B"/>
                </a:solidFill>
                <a:latin typeface="SimSun"/>
              </a:defRPr>
            </a:pPr>
            <a:r>
              <a:t>途中长辈说'胸口发闷、喘不上气'，系统立即中断原路线，北斗导航毫秒级锁定就近三甲医院急诊通道并通报子女。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82880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43"/>
                </a:solidFill>
                <a:latin typeface="SimHei"/>
              </a:defRPr>
            </a:pPr>
            <a:r>
              <a:t>跌倒与走失一键紧急呼救</a:t>
            </a:r>
          </a:p>
          <a:p>
            <a:pPr>
              <a:lnSpc>
                <a:spcPct val="130000"/>
              </a:lnSpc>
              <a:spcBef>
                <a:spcPts val="1400"/>
              </a:spcBef>
              <a:defRPr sz="1100">
                <a:solidFill>
                  <a:srgbClr val="64748B"/>
                </a:solidFill>
                <a:latin typeface="SimSun"/>
              </a:defRPr>
            </a:pPr>
            <a:r>
              <a:t>一键触发 SOS，高精度经纬度即时同步给子女、网格员与社区紧急联系人，建立立体应急救助网络。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A8CC"/>
                </a:solidFill>
                <a:latin typeface="SimHei"/>
              </a:defRPr>
            </a:pPr>
            <a:r>
              <a:t>第八届湖南省大学生智能导航科技创新大赛 · 科技创意类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  <a:latin typeface="SimHei"/>
              </a:defRPr>
            </a:pPr>
            <a:r>
              <a:t>七、 典型示范场景：湖南本地化特色实践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2043"/>
                </a:solidFill>
                <a:latin typeface="SimHei"/>
              </a:defRPr>
            </a:pPr>
            <a:r>
              <a:t>示范场景一：湖南烈士公园休闲散步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• 针对膝关节炎老人，规避烈士纪念塔陡长台阶，优选年嘉湖沿线无障碍平缓绿道。</a:t>
            </a:r>
            <a:br/>
            <a:r>
              <a:t>• 结合气象感知智能体，实时播报午后阵雨，自动引导至附近湖畔避雨凉亭。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2043"/>
                </a:solidFill>
                <a:latin typeface="SimHei"/>
              </a:defRPr>
            </a:pPr>
            <a:r>
              <a:t>示范场景二：中南大学湘雅医院就医全流程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• 智能体串联挂号号源、无障碍接驳与门诊导航。</a:t>
            </a:r>
            <a:br/>
            <a:r>
              <a:t>• 引导至湘雅路无障碍电梯通道，避开天桥施工拥堵，五页计划书一键交付子女确认。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60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2043"/>
                </a:solidFill>
                <a:latin typeface="SimHei"/>
              </a:defRPr>
            </a:pPr>
            <a:r>
              <a:t>示范场景三：湖南省人民医院途中突发急症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• 老人途中突发不适，系统秒级重划切换至省人民医院急诊绿通，北斗短报文脉冲广播至子女。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60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2043"/>
                </a:solidFill>
                <a:latin typeface="SimHei"/>
              </a:defRPr>
            </a:pPr>
            <a:r>
              <a:t>示范场景四：橘子洲景区全景亲情守护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• 设置橘子洲景区外轮廓安全围栏，精准感知老人观光小火车换乘，子女端随时随地安心查看。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A8CC"/>
                </a:solidFill>
                <a:latin typeface="SimHei"/>
              </a:defRPr>
            </a:pPr>
            <a:r>
              <a:t>第八届湖南省大学生智能导航科技创新大赛 · 科技创意类</a:t>
            </a:r>
          </a:p>
          <a:p>
            <a:pPr>
              <a:spcBef>
                <a:spcPts val="400"/>
              </a:spcBef>
              <a:defRPr sz="2200" b="1">
                <a:solidFill>
                  <a:srgbClr val="0F2043"/>
                </a:solidFill>
                <a:latin typeface="SimHei"/>
              </a:defRPr>
            </a:pPr>
            <a:r>
              <a:t>八、 商业落地闭环与北斗规模化应用战略价值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SimHei"/>
              </a:defRPr>
            </a:pPr>
            <a:r>
              <a:t>B2C 孝心经济订阅模式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提供基础适老出行免费，高级北斗安全走廊与突发急救秒级联动收取家庭安心年费（约 199元/年），打造高粘性家庭守护生态。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SimHei"/>
              </a:defRPr>
            </a:pPr>
            <a:r>
              <a:t>B2B 康养硬件联合预装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携手智能拐杖、老人手环及银发机顶盒厂商，提供北斗适老微地形导航 SDK 与守护后台，实现软硬一体赋能。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60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SimHei"/>
              </a:defRPr>
            </a:pPr>
            <a:r>
              <a:t>B2G 智慧民政公共采购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对接湖南省民政与老龄委'银发助老工程'，作为社区网格化养老与孤寡老人安全防走失的标准数字化基础设施。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60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SimHei"/>
              </a:defRPr>
            </a:pPr>
            <a:r>
              <a:t>国家战略与产业价值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000">
                <a:solidFill>
                  <a:srgbClr val="64748B"/>
                </a:solidFill>
                <a:latin typeface="SimSun"/>
              </a:defRPr>
            </a:pPr>
            <a:r>
              <a:t>契合《积极应对人口老龄化国家战略》，有力推动北斗高精度大众消费级应用，助力湖南'北斗+'产业规模化提质跃升。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imHei"/>
              </a:defRPr>
            </a:pPr>
            <a:r>
              <a:t>让中国北斗之光，照亮每一位长辈的安心归家路</a:t>
            </a:r>
          </a:p>
          <a:p>
            <a:pPr>
              <a:spcBef>
                <a:spcPts val="1800"/>
              </a:spcBef>
              <a:defRPr sz="1800" b="1">
                <a:solidFill>
                  <a:srgbClr val="00A8CC"/>
                </a:solidFill>
                <a:latin typeface="SimHei"/>
              </a:defRPr>
            </a:pPr>
            <a:r>
              <a:t>北斗高精时空 · 多Agent协同闭环 · 适老化科技向善</a:t>
            </a:r>
          </a:p>
          <a:p>
            <a:pPr>
              <a:spcBef>
                <a:spcPts val="3000"/>
              </a:spcBef>
              <a:defRPr sz="1300">
                <a:solidFill>
                  <a:srgbClr val="94A3B8"/>
                </a:solidFill>
                <a:latin typeface="SimSun"/>
              </a:defRPr>
            </a:pPr>
            <a:r>
              <a:t>第八届湖南省大学生智能导航科技创新大赛 · 科技创意类参赛作品汇报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