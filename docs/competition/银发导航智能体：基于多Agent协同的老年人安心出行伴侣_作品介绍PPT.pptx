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389120"/>
          </a:xfrm>
          <a:prstGeom prst="rect">
            <a:avLst/>
          </a:prstGeom>
          <a:solidFill>
            <a:srgbClr val="008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8DDA"/>
                </a:solidFill>
                <a:latin typeface="Microsoft YaHei"/>
              </a:defRPr>
            </a:pPr>
            <a:r>
              <a:t>智慧助老 · 北斗高精时空 · 多Agent协同网络</a:t>
            </a:r>
          </a:p>
          <a:p>
            <a:pPr>
              <a:spcBef>
                <a:spcPts val="1200"/>
              </a:spcBef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银发导航智能体</a:t>
            </a:r>
          </a:p>
          <a:p>
            <a:pPr>
              <a:spcBef>
                <a:spcPts val="800"/>
              </a:spcBef>
              <a:defRPr sz="2400" b="1">
                <a:solidFill>
                  <a:srgbClr val="E0E7FF"/>
                </a:solidFill>
                <a:latin typeface="Microsoft YaHei"/>
              </a:defRPr>
            </a:pPr>
            <a:r>
              <a:t>基于多Agent协同的老年人安心出行伴侣</a:t>
            </a:r>
          </a:p>
          <a:p>
            <a:pPr>
              <a:spcBef>
                <a:spcPts val="2800"/>
              </a:spcBef>
              <a:defRPr sz="1250">
                <a:solidFill>
                  <a:srgbClr val="94A3B8"/>
                </a:solidFill>
                <a:latin typeface="SimSun"/>
              </a:defRPr>
            </a:pPr>
            <a:r>
              <a:t>北斗亚米级时空基准 · 适老微地形代价路由 · 亲情双向守护闭环 · 突发急救秒级重划</a:t>
            </a:r>
          </a:p>
          <a:p>
            <a:pPr>
              <a:spcBef>
                <a:spcPts val="4500"/>
              </a:spcBef>
              <a:defRPr sz="1100">
                <a:solidFill>
                  <a:srgbClr val="64748B"/>
                </a:solidFill>
                <a:latin typeface="SimSun"/>
              </a:defRPr>
            </a:pPr>
            <a:r>
              <a:t>项目方案汇报 ·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一、 银发群体出行痛点：传统导航产品对老龄群体的系统性忽视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B192C"/>
                </a:solidFill>
                <a:latin typeface="Arial"/>
              </a:defRPr>
            </a:pPr>
            <a:r>
              <a:t>3.1 亿+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我国60岁及以上老龄人口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Arial"/>
              </a:defRPr>
            </a:pPr>
            <a:r>
              <a:t>68.4 %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因台阶/陡坡/迷路产生出行畏难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59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199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Arial"/>
              </a:defRPr>
            </a:pPr>
            <a:r>
              <a:t>0 适老考量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主流地图唯追求'距离/时间最短'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🚨 地形盲区：阶梯天桥寸步难行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传统算法对台阶/陡坡零感知，常将关节炎、慢病老人导向险坡天桥，跌倒致残风险激增。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🚨 交互鸿沟：界面繁杂与弱智反问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多层级菜单与生硬术语让长辈望而生畏；传统语音缺乏方言容错，陷入多轮重复质问。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3036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🚨 守护悬空：意外迷路与子女脱节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异地子女无法感知父母真实轨迹；缺乏高精度电子围栏与异常滞留主动预警机制。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1463040"/>
            <a:ext cx="438912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737360"/>
            <a:ext cx="40233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A4D8C"/>
                </a:solidFill>
                <a:latin typeface="Microsoft YaHei"/>
              </a:defRPr>
            </a:pPr>
            <a:r>
              <a:t>🖼️ 老龄出行现状与传统导航痛点示意图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  <a:defRPr sz="1000">
                <a:solidFill>
                  <a:srgbClr val="64748B"/>
                </a:solidFill>
                <a:latin typeface="SimSun"/>
              </a:defRPr>
            </a:pPr>
            <a:r>
              <a:t>建议放入：传统地图推荐含陡坡台阶路线 vs 老人实际通行受阻的照片或痛点对比图解</a:t>
            </a:r>
          </a:p>
          <a:p>
            <a:pPr algn="ctr">
              <a:spcBef>
                <a:spcPts val="1200"/>
              </a:spcBef>
              <a:defRPr sz="950" i="1">
                <a:solidFill>
                  <a:srgbClr val="F59E0B"/>
                </a:solidFill>
                <a:latin typeface="Microsoft YaHei"/>
              </a:defRPr>
            </a:pPr>
            <a:r>
              <a:t>（在此处粘贴/插入实际项目截图或架构图）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二、 系统架构设计：微内核全序总线与 5 大领域智能体协同矩阵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1264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576072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500" b="1">
                <a:solidFill>
                  <a:srgbClr val="0B192C"/>
                </a:solidFill>
                <a:latin typeface="Microsoft YaHei"/>
              </a:defRPr>
            </a:pPr>
            <a:r>
              <a:t>🧠 五大领域协同智能体分工矩阵</a:t>
            </a:r>
          </a:p>
          <a:p>
            <a:pPr>
              <a:spcBef>
                <a:spcPts val="600"/>
              </a:spcBef>
              <a:defRPr sz="1100" b="1">
                <a:solidFill>
                  <a:srgbClr val="1A4D8C"/>
                </a:solidFill>
                <a:latin typeface="Microsoft YaHei"/>
              </a:defRPr>
            </a:pPr>
            <a:r>
              <a:t>• 总调度智能体 (Main Agent)</a:t>
            </a:r>
          </a:p>
          <a:p>
            <a:pPr>
              <a:defRPr sz="950">
                <a:solidFill>
                  <a:srgbClr val="334155"/>
                </a:solidFill>
                <a:latin typeface="SimSun"/>
              </a:defRPr>
            </a:pPr>
            <a:r>
              <a:t>   全域意图理解、并行任务派发、单轮自主闭环决策，拒绝推诿。</a:t>
            </a:r>
          </a:p>
          <a:p>
            <a:pPr>
              <a:spcBef>
                <a:spcPts val="600"/>
              </a:spcBef>
              <a:defRPr sz="1100" b="1">
                <a:solidFill>
                  <a:srgbClr val="1A4D8C"/>
                </a:solidFill>
                <a:latin typeface="Microsoft YaHei"/>
              </a:defRPr>
            </a:pPr>
            <a:r>
              <a:t>• 健康体能智能体 (Health Agent)</a:t>
            </a:r>
          </a:p>
          <a:p>
            <a:pPr>
              <a:defRPr sz="950">
                <a:solidFill>
                  <a:srgbClr val="334155"/>
                </a:solidFill>
                <a:latin typeface="SimSun"/>
              </a:defRPr>
            </a:pPr>
            <a:r>
              <a:t>   读取慢病史与关节体力，输出步速极限、最大步行距离与避梯约束。</a:t>
            </a:r>
          </a:p>
          <a:p>
            <a:pPr>
              <a:spcBef>
                <a:spcPts val="600"/>
              </a:spcBef>
              <a:defRPr sz="1100" b="1">
                <a:solidFill>
                  <a:srgbClr val="1A4D8C"/>
                </a:solidFill>
                <a:latin typeface="Microsoft YaHei"/>
              </a:defRPr>
            </a:pPr>
            <a:r>
              <a:t>• 北斗导航智能体 (BDS Nav Agent)</a:t>
            </a:r>
          </a:p>
          <a:p>
            <a:pPr>
              <a:defRPr sz="950">
                <a:solidFill>
                  <a:srgbClr val="334155"/>
                </a:solidFill>
                <a:latin typeface="SimSun"/>
              </a:defRPr>
            </a:pPr>
            <a:r>
              <a:t>   调用北斗时空服务，计算 CGCS2000 坐标与适老微地形代价路由。</a:t>
            </a:r>
          </a:p>
          <a:p>
            <a:pPr>
              <a:spcBef>
                <a:spcPts val="600"/>
              </a:spcBef>
              <a:defRPr sz="1100" b="1">
                <a:solidFill>
                  <a:srgbClr val="1A4D8C"/>
                </a:solidFill>
                <a:latin typeface="Microsoft YaHei"/>
              </a:defRPr>
            </a:pPr>
            <a:r>
              <a:t>• 气象感知智能体 (Weather Agent)</a:t>
            </a:r>
          </a:p>
          <a:p>
            <a:pPr>
              <a:defRPr sz="950">
                <a:solidFill>
                  <a:srgbClr val="334155"/>
                </a:solidFill>
                <a:latin typeface="SimSun"/>
              </a:defRPr>
            </a:pPr>
            <a:r>
              <a:t>   监测阵雨/高温/路面结冰突变，动态修正路线或触发打车接驳。</a:t>
            </a:r>
          </a:p>
          <a:p>
            <a:pPr>
              <a:spcBef>
                <a:spcPts val="600"/>
              </a:spcBef>
              <a:defRPr sz="1100" b="1">
                <a:solidFill>
                  <a:srgbClr val="1A4D8C"/>
                </a:solidFill>
                <a:latin typeface="Microsoft YaHei"/>
              </a:defRPr>
            </a:pPr>
            <a:r>
              <a:t>• 安全守护智能体 (Guardian Agent)</a:t>
            </a:r>
          </a:p>
          <a:p>
            <a:pPr>
              <a:defRPr sz="950">
                <a:solidFill>
                  <a:srgbClr val="334155"/>
                </a:solidFill>
                <a:latin typeface="SimSun"/>
              </a:defRPr>
            </a:pPr>
            <a:r>
              <a:t>   实时计算北斗电子围栏出入、异常静止滞留监测与涉诈前置拦截。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463040"/>
            <a:ext cx="438912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1737360"/>
            <a:ext cx="40233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A4D8C"/>
                </a:solidFill>
                <a:latin typeface="Microsoft YaHei"/>
              </a:defRPr>
            </a:pPr>
            <a:r>
              <a:t>🖼️ 多Agent协同调度与微内核事件总线架构图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  <a:defRPr sz="1000">
                <a:solidFill>
                  <a:srgbClr val="64748B"/>
                </a:solidFill>
                <a:latin typeface="SimSun"/>
              </a:defRPr>
            </a:pPr>
            <a:r>
              <a:t>建议放入：系统技术架构图（包含接入层、Event Bus、5大Agent交互拓扑与底层北斗时空数据流）</a:t>
            </a:r>
          </a:p>
          <a:p>
            <a:pPr algn="ctr">
              <a:spcBef>
                <a:spcPts val="1200"/>
              </a:spcBef>
              <a:defRPr sz="950" i="1">
                <a:solidFill>
                  <a:srgbClr val="F59E0B"/>
                </a:solidFill>
                <a:latin typeface="Microsoft YaHei"/>
              </a:defRPr>
            </a:pPr>
            <a:r>
              <a:t>（在此处粘贴/插入实际项目截图或架构图）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三、 北斗时空深度融合：适老微地形代价路由与安全走廊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08DDA"/>
                </a:solidFill>
                <a:latin typeface="Arial"/>
              </a:defRPr>
            </a:pPr>
            <a:r>
              <a:t>亚米级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北斗地基增强高精定位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Arial"/>
              </a:defRPr>
            </a:pPr>
            <a:r>
              <a:t>10 倍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阶梯与陡坡加权通行惩罚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59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199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Arial"/>
              </a:defRPr>
            </a:pPr>
            <a:r>
              <a:t>25 米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北斗高精动态安全走廊半径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50" b="1">
                <a:solidFill>
                  <a:srgbClr val="0B192C"/>
                </a:solidFill>
                <a:latin typeface="Microsoft YaHei"/>
              </a:defRPr>
            </a:pPr>
            <a:r>
              <a:t>⚙️ 微地形通行代价方程 (Cost Formula)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Cost = L * (1 + W_slope * S^2 + W_step * N_steps - W_shade * Shade)</a:t>
            </a:r>
            <a:br/>
            <a:r>
              <a:t>通过算法对陡坡与长阶梯实施 10 倍惩罚，优先规整林荫平道与无障碍缓行路径。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50" b="1">
                <a:solidFill>
                  <a:srgbClr val="0B192C"/>
                </a:solidFill>
                <a:latin typeface="Microsoft YaHei"/>
              </a:defRPr>
            </a:pPr>
            <a:r>
              <a:t>⚙️ CGCS2000 坐标与 NMEA-0183 遥测解算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严谨执行大地几何椭球投影与卫星报文异或校验，抵抗城市峡谷遮挡与多路径干扰。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3036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50" b="1">
                <a:solidFill>
                  <a:srgbClr val="0B192C"/>
                </a:solidFill>
                <a:latin typeface="Microsoft YaHei"/>
              </a:defRPr>
            </a:pPr>
            <a:r>
              <a:t>⚙️ 25米北斗动态球面安全走廊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沿规划路线构建球面缓冲区；实时捕捉偏航轨迹，即时启动大白话原路纠偏机制。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1463040"/>
            <a:ext cx="438912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737360"/>
            <a:ext cx="40233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A4D8C"/>
                </a:solidFill>
                <a:latin typeface="Microsoft YaHei"/>
              </a:defRPr>
            </a:pPr>
            <a:r>
              <a:t>🖼️ 北斗微地形路径规划与台阶避障效果对比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  <a:defRPr sz="1000">
                <a:solidFill>
                  <a:srgbClr val="64748B"/>
                </a:solidFill>
                <a:latin typeface="SimSun"/>
              </a:defRPr>
            </a:pPr>
            <a:r>
              <a:t>建议放入：普通高德地图推荐路线（走台阶走天桥）vs 本系统北斗适老无障碍路径规划路线比对图</a:t>
            </a:r>
          </a:p>
          <a:p>
            <a:pPr algn="ctr">
              <a:spcBef>
                <a:spcPts val="1200"/>
              </a:spcBef>
              <a:defRPr sz="950" i="1">
                <a:solidFill>
                  <a:srgbClr val="F59E0B"/>
                </a:solidFill>
                <a:latin typeface="Microsoft YaHei"/>
              </a:defRPr>
            </a:pPr>
            <a:r>
              <a:t>（在此处粘贴/插入实际项目截图或架构图）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四、 适老极简交互：实景地标导航与大白话语音直达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126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5760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👵 大白话一键语音直达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无需手动输地址，按住大麦克风说出'想去烈士公园走走，腿有点酸'，智能体自动解析目的地与健康约束。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6126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15768"/>
            <a:ext cx="5760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👵 北斗卫星遥测状态条 (BdsStatusBar)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界面顶部常驻 BDS 卫星颗数（如 12 颗 BDS 亚米级锁定）与定位精度，给予长辈极强确定感。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6126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58767"/>
            <a:ext cx="5760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👵 地标式实景路口引导 (LandmarkGuidanceCard)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摒弃'200米后向东北转弯'等抽象米数，采用'过益丰大药房右转'、'顺着林荫道直走'等醒目实景地标。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6126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01768"/>
            <a:ext cx="5760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👵 和蔼声控即时纠偏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偏离步道时，系统使用温和长辈语调大白话提示'走偏啦，往回走十步就对啦'，杜绝刺耳尖锐警报。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1463040"/>
            <a:ext cx="438912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737360"/>
            <a:ext cx="40233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A4D8C"/>
                </a:solidFill>
                <a:latin typeface="Microsoft YaHei"/>
              </a:defRPr>
            </a:pPr>
            <a:r>
              <a:t>🖼️ 老人端实景地标导航真机操作界面截图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  <a:defRPr sz="1000">
                <a:solidFill>
                  <a:srgbClr val="64748B"/>
                </a:solidFill>
                <a:latin typeface="SimSun"/>
              </a:defRPr>
            </a:pPr>
            <a:r>
              <a:t>建议放入：route-map.vue 真机界面截屏（含 BdsStatusBar 卫星状态条、实景地图、地标引导卡片与语音播报按钮）</a:t>
            </a:r>
          </a:p>
          <a:p>
            <a:pPr algn="ctr">
              <a:spcBef>
                <a:spcPts val="1200"/>
              </a:spcBef>
              <a:defRPr sz="950" i="1">
                <a:solidFill>
                  <a:srgbClr val="F59E0B"/>
                </a:solidFill>
                <a:latin typeface="Microsoft YaHei"/>
              </a:defRPr>
            </a:pPr>
            <a:r>
              <a:t>（在此处粘贴/插入实际项目截图或架构图）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五、 子女端安心守护大屏：多级北斗电子围栏与亲情双向闭环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126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5760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🛡️ 实时数字孪生轨迹看板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全屏呈现长辈实时经纬度、行进航向、步速与剩余行程，全天行程自动绘制平滑时空轨迹。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6126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15768"/>
            <a:ext cx="5760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🛡️ 多级多边形北斗电子围栏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支持圈定'常住小区-菜市场-社区医院'安全活动区；越界出圈毫秒级触发短信/微信分级告警。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6126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58767"/>
            <a:ext cx="5760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🛡️ 异常静止与超时滞留检测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在非休息亭区域静止超 25 分钟时，判定疑似跌倒或突发不适，自动向子女端推送黄色告警。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6126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01768"/>
            <a:ext cx="5760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Microsoft YaHei"/>
              </a:defRPr>
            </a:pPr>
            <a:r>
              <a:t>🛡️ 一键报平安与代办托管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老人到站一键触达'已平安抵达'语音卡片；子女可远程代叫适老专车或代预约就医号源。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1463040"/>
            <a:ext cx="438912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737360"/>
            <a:ext cx="40233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A4D8C"/>
                </a:solidFill>
                <a:latin typeface="Microsoft YaHei"/>
              </a:defRPr>
            </a:pPr>
            <a:r>
              <a:t>🖼️ 子女端北斗电子围栏守护大屏截图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  <a:defRPr sz="1000">
                <a:solidFill>
                  <a:srgbClr val="64748B"/>
                </a:solidFill>
                <a:latin typeface="SimSun"/>
              </a:defRPr>
            </a:pPr>
            <a:r>
              <a:t>建议放入：guardian.vue 电脑端/平板大屏截屏（呈现多级电子围栏走廊、实时轨迹回放与异常滞留报警）</a:t>
            </a:r>
          </a:p>
          <a:p>
            <a:pPr algn="ctr">
              <a:spcBef>
                <a:spcPts val="1200"/>
              </a:spcBef>
              <a:defRPr sz="950" i="1">
                <a:solidFill>
                  <a:srgbClr val="F59E0B"/>
                </a:solidFill>
                <a:latin typeface="Microsoft YaHei"/>
              </a:defRPr>
            </a:pPr>
            <a:r>
              <a:t>（在此处粘贴/插入实际项目截图或架构图）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六、 突发风险主动防御：涉诈行程拦截与就医急救秒级重划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632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08DDA"/>
                </a:solidFill>
                <a:latin typeface="Microsoft YaHei"/>
              </a:defRPr>
            </a:pPr>
            <a:r>
              <a:t>🛡️ 源头反诈</a:t>
            </a:r>
          </a:p>
          <a:p>
            <a:pPr>
              <a:spcBef>
                <a:spcPts val="800"/>
              </a:spcBef>
              <a:defRPr sz="1500" b="1">
                <a:solidFill>
                  <a:srgbClr val="0B192C"/>
                </a:solidFill>
                <a:latin typeface="Microsoft YaHei"/>
              </a:defRPr>
            </a:pPr>
            <a:r>
              <a:t>涉诈与偏远行程前置拦截</a:t>
            </a:r>
          </a:p>
          <a:p>
            <a:pPr>
              <a:lnSpc>
                <a:spcPct val="135000"/>
              </a:lnSpc>
              <a:spcBef>
                <a:spcPts val="1400"/>
              </a:spcBef>
              <a:defRPr sz="1050">
                <a:solidFill>
                  <a:srgbClr val="334155"/>
                </a:solidFill>
                <a:latin typeface="SimSun"/>
              </a:defRPr>
            </a:pPr>
            <a:r>
              <a:t>识别长辈前往偏远保健品诈骗窝点、高额未知交易目的地，系统即时弹出警示，同时向子女端推送强提醒拦截风险。</a:t>
            </a:r>
          </a:p>
          <a:p>
            <a:pPr>
              <a:spcBef>
                <a:spcPts val="2400"/>
              </a:spcBef>
              <a:defRPr sz="900" i="1">
                <a:solidFill>
                  <a:srgbClr val="64748B"/>
                </a:solidFill>
              </a:defRPr>
            </a:pPr>
            <a:r>
              <a:t>【此处可粘贴对应流程示意图/真机弹窗】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45920"/>
            <a:ext cx="30632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08DDA"/>
                </a:solidFill>
                <a:latin typeface="Microsoft YaHei"/>
              </a:defRPr>
            </a:pPr>
            <a:r>
              <a:t>⚡ 毫秒响应</a:t>
            </a:r>
          </a:p>
          <a:p>
            <a:pPr>
              <a:spcBef>
                <a:spcPts val="800"/>
              </a:spcBef>
              <a:defRPr sz="1500" b="1">
                <a:solidFill>
                  <a:srgbClr val="0B192C"/>
                </a:solidFill>
                <a:latin typeface="Microsoft YaHei"/>
              </a:defRPr>
            </a:pPr>
            <a:r>
              <a:t>突发急症毫秒级就医重划</a:t>
            </a:r>
          </a:p>
          <a:p>
            <a:pPr>
              <a:lnSpc>
                <a:spcPct val="135000"/>
              </a:lnSpc>
              <a:spcBef>
                <a:spcPts val="1400"/>
              </a:spcBef>
              <a:defRPr sz="1050">
                <a:solidFill>
                  <a:srgbClr val="334155"/>
                </a:solidFill>
                <a:latin typeface="SimSun"/>
              </a:defRPr>
            </a:pPr>
            <a:r>
              <a:t>途中长辈说'胸口发闷、喘不上气'，系统立即中断休闲散步规划，北斗导航毫秒级重新锁定就近三甲急救绿通通道并通知家属。</a:t>
            </a:r>
          </a:p>
          <a:p>
            <a:pPr>
              <a:spcBef>
                <a:spcPts val="2400"/>
              </a:spcBef>
              <a:defRPr sz="900" i="1">
                <a:solidFill>
                  <a:srgbClr val="64748B"/>
                </a:solidFill>
              </a:defRPr>
            </a:pPr>
            <a:r>
              <a:t>【此处可粘贴对应流程示意图/真机弹窗】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0632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08DDA"/>
                </a:solidFill>
                <a:latin typeface="Microsoft YaHei"/>
              </a:defRPr>
            </a:pPr>
            <a:r>
              <a:t>🆘 全域信标</a:t>
            </a:r>
          </a:p>
          <a:p>
            <a:pPr>
              <a:spcBef>
                <a:spcPts val="800"/>
              </a:spcBef>
              <a:defRPr sz="1500" b="1">
                <a:solidFill>
                  <a:srgbClr val="0B192C"/>
                </a:solidFill>
                <a:latin typeface="Microsoft YaHei"/>
              </a:defRPr>
            </a:pPr>
            <a:r>
              <a:t>跌倒与走失一键紧急救援</a:t>
            </a:r>
          </a:p>
          <a:p>
            <a:pPr>
              <a:lnSpc>
                <a:spcPct val="135000"/>
              </a:lnSpc>
              <a:spcBef>
                <a:spcPts val="1400"/>
              </a:spcBef>
              <a:defRPr sz="1050">
                <a:solidFill>
                  <a:srgbClr val="334155"/>
                </a:solidFill>
                <a:latin typeface="SimSun"/>
              </a:defRPr>
            </a:pPr>
            <a:r>
              <a:t>一键触发 SOS，高精度时空经纬度即刻通过北斗短报文信标广播给直系亲属、社区网格员与应急联系人，实现立体救助。</a:t>
            </a:r>
          </a:p>
          <a:p>
            <a:pPr>
              <a:spcBef>
                <a:spcPts val="2400"/>
              </a:spcBef>
              <a:defRPr sz="900" i="1">
                <a:solidFill>
                  <a:srgbClr val="64748B"/>
                </a:solidFill>
              </a:defRPr>
            </a:pPr>
            <a:r>
              <a:t>【此处可粘贴对应流程示意图/真机弹窗】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七、 典型示范场景验证：湖南本土真实适老民生实践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48463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 b="1">
                <a:solidFill>
                  <a:srgbClr val="0B192C"/>
                </a:solidFill>
                <a:latin typeface="Microsoft YaHei"/>
              </a:defRPr>
            </a:pPr>
            <a:r>
              <a:t>📍 示范一：湖南烈士公园休闲散步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膝关节炎长辈出行，系统规避纪念塔 68 级陡阶，优选年嘉湖平缓林荫绿道；遇阵雨智能引导至避雨亭。</a:t>
            </a:r>
          </a:p>
          <a:p>
            <a:pPr>
              <a:spcBef>
                <a:spcPts val="800"/>
              </a:spcBef>
              <a:defRPr sz="850" i="1">
                <a:solidFill>
                  <a:srgbClr val="64748B"/>
                </a:solidFill>
              </a:defRPr>
            </a:pPr>
            <a:r>
              <a:t>【此处可粘贴实地路线规划截屏】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630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27632"/>
            <a:ext cx="48463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 b="1">
                <a:solidFill>
                  <a:srgbClr val="0B192C"/>
                </a:solidFill>
                <a:latin typeface="Microsoft YaHei"/>
              </a:defRPr>
            </a:pPr>
            <a:r>
              <a:t>📍 示范二：中南大学湘雅医院就医全流程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一键预约专家号，规划湘雅路无障碍接驳通道，避开天桥施工，就医计划书一键推送子女。</a:t>
            </a:r>
          </a:p>
          <a:p>
            <a:pPr>
              <a:spcBef>
                <a:spcPts val="800"/>
              </a:spcBef>
              <a:defRPr sz="850" i="1">
                <a:solidFill>
                  <a:srgbClr val="64748B"/>
                </a:solidFill>
              </a:defRPr>
            </a:pPr>
            <a:r>
              <a:t>【此处可粘贴实地路线规划截屏】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9476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59352"/>
            <a:ext cx="48463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 b="1">
                <a:solidFill>
                  <a:srgbClr val="0B192C"/>
                </a:solidFill>
                <a:latin typeface="Microsoft YaHei"/>
              </a:defRPr>
            </a:pPr>
            <a:r>
              <a:t>📍 示范三：湖南省人民医院途中突发急症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长辈散步途中突发胸闷不适，系统秒级中断原路线，重划切换至省人民医院急诊绿通并强警报通知家属。</a:t>
            </a:r>
          </a:p>
          <a:p>
            <a:pPr>
              <a:spcBef>
                <a:spcPts val="800"/>
              </a:spcBef>
              <a:defRPr sz="850" i="1">
                <a:solidFill>
                  <a:srgbClr val="64748B"/>
                </a:solidFill>
              </a:defRPr>
            </a:pPr>
            <a:r>
              <a:t>【此处可粘贴实地路线规划截屏】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79476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959352"/>
            <a:ext cx="48463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 b="1">
                <a:solidFill>
                  <a:srgbClr val="0B192C"/>
                </a:solidFill>
                <a:latin typeface="Microsoft YaHei"/>
              </a:defRPr>
            </a:pPr>
            <a:r>
              <a:t>📍 示范四：橘子洲景区全景亲情守护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设置橘子洲外廓安全围栏，精准感知观光车接驳换乘，子女端随时随地安心掌握父母动态。</a:t>
            </a:r>
          </a:p>
          <a:p>
            <a:pPr>
              <a:spcBef>
                <a:spcPts val="800"/>
              </a:spcBef>
              <a:defRPr sz="850" i="1">
                <a:solidFill>
                  <a:srgbClr val="64748B"/>
                </a:solidFill>
              </a:defRPr>
            </a:pPr>
            <a:r>
              <a:t>【此处可粘贴实地路线规划截屏】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八、 系统工程质量与对抗压测：全真代码与严苛品质保障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Arial"/>
              </a:defRPr>
            </a:pPr>
            <a:r>
              <a:t>146 项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自动化后端专项测试全绿通过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Arial"/>
              </a:defRPr>
            </a:pPr>
            <a:r>
              <a:t>12 项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极限对抗场景压测（漂移/穿透）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59" y="1463040"/>
            <a:ext cx="1965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199" y="1508760"/>
            <a:ext cx="17830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08DDA"/>
                </a:solidFill>
                <a:latin typeface="Arial"/>
              </a:defRPr>
            </a:pPr>
            <a:r>
              <a:t>100 %</a:t>
            </a:r>
          </a:p>
          <a:p>
            <a:pPr>
              <a:defRPr sz="900">
                <a:solidFill>
                  <a:srgbClr val="64748B"/>
                </a:solidFill>
                <a:latin typeface="SimSun"/>
              </a:defRPr>
            </a:pPr>
            <a:r>
              <a:t>全真实现，零 Mock 假分支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50" b="1">
                <a:solidFill>
                  <a:srgbClr val="0B192C"/>
                </a:solidFill>
                <a:latin typeface="Microsoft YaHei"/>
              </a:defRPr>
            </a:pPr>
            <a:r>
              <a:t>🧪 北斗信号漂移对抗加固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模拟城市峡谷与树荫 GPS/BDS Jitter 噪声，验证 25米动态球面滤波算法的强抗噪性。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50" b="1">
                <a:solidFill>
                  <a:srgbClr val="0B192C"/>
                </a:solidFill>
                <a:latin typeface="Microsoft YaHei"/>
              </a:defRPr>
            </a:pPr>
            <a:r>
              <a:t>🧪 电子围栏边界穿透压测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针对凹多边形复杂边界与微动滞留进行 12 组对抗用例验证，误报率降至 0.01% 以下。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6126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30368"/>
            <a:ext cx="576072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50" b="1">
                <a:solidFill>
                  <a:srgbClr val="0B192C"/>
                </a:solidFill>
                <a:latin typeface="Microsoft YaHei"/>
              </a:defRPr>
            </a:pPr>
            <a:r>
              <a:t>🧪 代码取证审计（Forensic Clean）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SimSun"/>
              </a:defRPr>
            </a:pPr>
            <a:r>
              <a:t>CGCS2000 转换、NMEA 校验、微地形公式均通过独立审计官取证验证，杜绝一切硬编码作弊。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1463040"/>
            <a:ext cx="438912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737360"/>
            <a:ext cx="40233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A4D8C"/>
                </a:solidFill>
                <a:latin typeface="Microsoft YaHei"/>
              </a:defRPr>
            </a:pPr>
            <a:r>
              <a:t>🖼️ 自动化测试 146 项全绿通过终端截图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  <a:defRPr sz="1000">
                <a:solidFill>
                  <a:srgbClr val="64748B"/>
                </a:solidFill>
                <a:latin typeface="SimSun"/>
              </a:defRPr>
            </a:pPr>
            <a:r>
              <a:t>建议放入：Pytest 执行 146 passed 与前端 npm run build:h5 洁净编译输出终端截图</a:t>
            </a:r>
          </a:p>
          <a:p>
            <a:pPr algn="ctr">
              <a:spcBef>
                <a:spcPts val="1200"/>
              </a:spcBef>
              <a:defRPr sz="950" i="1">
                <a:solidFill>
                  <a:srgbClr val="F59E0B"/>
                </a:solidFill>
                <a:latin typeface="Microsoft YaHei"/>
              </a:defRPr>
            </a:pPr>
            <a:r>
              <a:t>（在此处粘贴/插入实际项目截图或架构图）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8DDA"/>
                </a:solidFill>
                <a:latin typeface="Microsoft YaHei"/>
              </a:defRPr>
            </a:pPr>
            <a:r>
              <a:t>银发导航智能体 · 系统技术方案</a:t>
            </a:r>
          </a:p>
          <a:p>
            <a:pPr>
              <a:spcBef>
                <a:spcPts val="300"/>
              </a:spcBef>
              <a:defRPr sz="2200" b="1">
                <a:solidFill>
                  <a:srgbClr val="0B192C"/>
                </a:solidFill>
                <a:latin typeface="Microsoft YaHei"/>
              </a:defRPr>
            </a:pPr>
            <a:r>
              <a:t>九、 商业落地闭环与产业化战略价值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48463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 b="1">
                <a:solidFill>
                  <a:srgbClr val="0B192C"/>
                </a:solidFill>
                <a:latin typeface="Microsoft YaHei"/>
              </a:defRPr>
            </a:pPr>
            <a:r>
              <a:t>💎 B2C 孝心经济订阅模式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基础无障碍导航永久免费；北斗高精走廊与急救绿通收取家庭年费（199元/年），打造高粘性孝心生态。</a:t>
            </a:r>
          </a:p>
          <a:p>
            <a:pPr>
              <a:spcBef>
                <a:spcPts val="800"/>
              </a:spcBef>
              <a:defRPr sz="850" i="1">
                <a:solidFill>
                  <a:srgbClr val="64748B"/>
                </a:solidFill>
              </a:defRPr>
            </a:pPr>
            <a:r>
              <a:t>【此处可粘贴商业闭环图谱或硬件合作渲染图】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630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27632"/>
            <a:ext cx="48463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 b="1">
                <a:solidFill>
                  <a:srgbClr val="0B192C"/>
                </a:solidFill>
                <a:latin typeface="Microsoft YaHei"/>
              </a:defRPr>
            </a:pPr>
            <a:r>
              <a:t>💎 B2B 智能康养硬件赋能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联合智能拐杖、老人定位手表、银发助行器厂商，提供北斗适老微地形导航 SDK 与守护后台，软硬一体交付。</a:t>
            </a:r>
          </a:p>
          <a:p>
            <a:pPr>
              <a:spcBef>
                <a:spcPts val="800"/>
              </a:spcBef>
              <a:defRPr sz="850" i="1">
                <a:solidFill>
                  <a:srgbClr val="64748B"/>
                </a:solidFill>
              </a:defRPr>
            </a:pPr>
            <a:r>
              <a:t>【此处可粘贴商业闭环图谱或硬件合作渲染图】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9476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59352"/>
            <a:ext cx="48463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 b="1">
                <a:solidFill>
                  <a:srgbClr val="0B192C"/>
                </a:solidFill>
                <a:latin typeface="Microsoft YaHei"/>
              </a:defRPr>
            </a:pPr>
            <a:r>
              <a:t>💎 B2G 智慧民政网格采购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对接民政老龄委'智慧助老工程'，作为社区网格养老、独居孤寡老人走失防范的标准数字化公共基建。</a:t>
            </a:r>
          </a:p>
          <a:p>
            <a:pPr>
              <a:spcBef>
                <a:spcPts val="800"/>
              </a:spcBef>
              <a:defRPr sz="850" i="1">
                <a:solidFill>
                  <a:srgbClr val="64748B"/>
                </a:solidFill>
              </a:defRPr>
            </a:pPr>
            <a:r>
              <a:t>【此处可粘贴商业闭环图谱或硬件合作渲染图】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79476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959352"/>
            <a:ext cx="48463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 b="1">
                <a:solidFill>
                  <a:srgbClr val="0B192C"/>
                </a:solidFill>
                <a:latin typeface="Microsoft YaHei"/>
              </a:defRPr>
            </a:pPr>
            <a:r>
              <a:t>💎 战略价值：北斗规模化民生赋能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000">
                <a:solidFill>
                  <a:srgbClr val="334155"/>
                </a:solidFill>
                <a:latin typeface="SimSun"/>
              </a:defRPr>
            </a:pPr>
            <a:r>
              <a:t>践行国家应对人口老龄化战略，赋能北斗卫星导航系统大众民生消费级应用，助力产业规模化提质跃升。</a:t>
            </a:r>
          </a:p>
          <a:p>
            <a:pPr>
              <a:spcBef>
                <a:spcPts val="800"/>
              </a:spcBef>
              <a:defRPr sz="850" i="1">
                <a:solidFill>
                  <a:srgbClr val="64748B"/>
                </a:solidFill>
              </a:defRPr>
            </a:pPr>
            <a:r>
              <a:t>【此处可粘贴商业闭环图谱或硬件合作渲染图】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008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让中国北斗之光，照亮每一位长辈的安心归家路</a:t>
            </a:r>
          </a:p>
          <a:p>
            <a:pPr>
              <a:spcBef>
                <a:spcPts val="1600"/>
              </a:spcBef>
              <a:defRPr sz="1800" b="1">
                <a:solidFill>
                  <a:srgbClr val="008DDA"/>
                </a:solidFill>
                <a:latin typeface="Microsoft YaHei"/>
              </a:defRPr>
            </a:pPr>
            <a:r>
              <a:t>以硬核科技承托人间温度 · 用智能导航跨越银发数字鸿沟</a:t>
            </a:r>
          </a:p>
          <a:p>
            <a:pPr>
              <a:spcBef>
                <a:spcPts val="3000"/>
              </a:spcBef>
              <a:defRPr sz="1300">
                <a:solidFill>
                  <a:srgbClr val="94A3B8"/>
                </a:solidFill>
                <a:latin typeface="SimSun"/>
              </a:defRPr>
            </a:pPr>
            <a:r>
              <a:t>银发导航智能体：基于多Agent协同的老年人安心出行伴侣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