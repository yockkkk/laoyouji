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371600"/>
            <a:ext cx="109728" cy="3291840"/>
          </a:xfrm>
          <a:prstGeom prst="rect">
            <a:avLst/>
          </a:prstGeom>
          <a:solidFill>
            <a:srgbClr val="008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280160"/>
            <a:ext cx="10241280" cy="4389120"/>
          </a:xfrm>
          <a:prstGeom prst="rect">
            <a:avLst/>
          </a:prstGeom>
          <a:noFill/>
        </p:spPr>
        <p:txBody>
          <a:bodyPr wrap="square">
            <a:spAutoFit/>
          </a:bodyPr>
          <a:lstStyle/>
          <a:p>
            <a:pPr>
              <a:defRPr sz="1300" b="1">
                <a:solidFill>
                  <a:srgbClr val="008DDA"/>
                </a:solidFill>
                <a:latin typeface="Microsoft YaHei"/>
              </a:defRPr>
            </a:pPr>
            <a:r>
              <a:t>第八届湖南省大学生智能导航科技创新大赛 · 科技创意类</a:t>
            </a:r>
          </a:p>
          <a:p>
            <a:pPr>
              <a:spcBef>
                <a:spcPts val="800"/>
              </a:spcBef>
              <a:defRPr sz="3800" b="1">
                <a:solidFill>
                  <a:srgbClr val="FFFFFF"/>
                </a:solidFill>
                <a:latin typeface="Microsoft YaHei"/>
              </a:defRPr>
            </a:pPr>
            <a:r>
              <a:t>银发导航智能体</a:t>
            </a:r>
          </a:p>
          <a:p>
            <a:pPr>
              <a:spcBef>
                <a:spcPts val="400"/>
              </a:spcBef>
              <a:defRPr sz="2400" b="1">
                <a:solidFill>
                  <a:srgbClr val="CBD5E1"/>
                </a:solidFill>
                <a:latin typeface="Microsoft YaHei"/>
              </a:defRPr>
            </a:pPr>
            <a:r>
              <a:t>基于多Agent协同的老年人安心出行伴侣</a:t>
            </a:r>
          </a:p>
          <a:p>
            <a:pPr>
              <a:spcBef>
                <a:spcPts val="1600"/>
              </a:spcBef>
              <a:defRPr sz="1200">
                <a:solidFill>
                  <a:srgbClr val="D97706"/>
                </a:solidFill>
                <a:latin typeface="Microsoft YaHei"/>
              </a:defRPr>
            </a:pPr>
            <a:r>
              <a:t>融合中国北斗高精时空基准 · 适老微地形代价路由 · 5大Agent单轮闭环 · 全序安全守护</a:t>
            </a:r>
          </a:p>
        </p:txBody>
      </p:sp>
      <p:sp>
        <p:nvSpPr>
          <p:cNvPr id="5" name="Rounded Rectangle 4"/>
          <p:cNvSpPr/>
          <p:nvPr/>
        </p:nvSpPr>
        <p:spPr>
          <a:xfrm>
            <a:off x="73152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212080"/>
            <a:ext cx="2377440" cy="1005840"/>
          </a:xfrm>
          <a:prstGeom prst="rect">
            <a:avLst/>
          </a:prstGeom>
          <a:noFill/>
        </p:spPr>
        <p:txBody>
          <a:bodyPr wrap="square">
            <a:spAutoFit/>
          </a:bodyPr>
          <a:lstStyle/>
          <a:p>
            <a:pPr>
              <a:defRPr sz="1100" b="1">
                <a:solidFill>
                  <a:srgbClr val="FFFFFF"/>
                </a:solidFill>
                <a:latin typeface="Microsoft YaHei"/>
              </a:defRPr>
            </a:pPr>
            <a:r>
              <a:t>🛰️ 北斗高精定位</a:t>
            </a:r>
          </a:p>
          <a:p>
            <a:pPr>
              <a:spcBef>
                <a:spcPts val="300"/>
              </a:spcBef>
              <a:defRPr sz="900">
                <a:solidFill>
                  <a:srgbClr val="94A3B8"/>
                </a:solidFill>
                <a:latin typeface="Microsoft YaHei"/>
              </a:defRPr>
            </a:pPr>
            <a:r>
              <a:t>亚米级时空基准与CGCS2000坐标系</a:t>
            </a:r>
          </a:p>
        </p:txBody>
      </p:sp>
      <p:sp>
        <p:nvSpPr>
          <p:cNvPr id="7" name="Rounded Rectangle 6"/>
          <p:cNvSpPr/>
          <p:nvPr/>
        </p:nvSpPr>
        <p:spPr>
          <a:xfrm>
            <a:off x="342900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5212080"/>
            <a:ext cx="2377440" cy="1005840"/>
          </a:xfrm>
          <a:prstGeom prst="rect">
            <a:avLst/>
          </a:prstGeom>
          <a:noFill/>
        </p:spPr>
        <p:txBody>
          <a:bodyPr wrap="square">
            <a:spAutoFit/>
          </a:bodyPr>
          <a:lstStyle/>
          <a:p>
            <a:pPr>
              <a:defRPr sz="1100" b="1">
                <a:solidFill>
                  <a:srgbClr val="FFFFFF"/>
                </a:solidFill>
                <a:latin typeface="Microsoft YaHei"/>
              </a:defRPr>
            </a:pPr>
            <a:r>
              <a:t>🪜 适老微地形路由</a:t>
            </a:r>
          </a:p>
          <a:p>
            <a:pPr>
              <a:spcBef>
                <a:spcPts val="300"/>
              </a:spcBef>
              <a:defRPr sz="900">
                <a:solidFill>
                  <a:srgbClr val="94A3B8"/>
                </a:solidFill>
                <a:latin typeface="Microsoft YaHei"/>
              </a:defRPr>
            </a:pPr>
            <a:r>
              <a:t>100%消除危险长台阶与陡坡阻碍</a:t>
            </a:r>
          </a:p>
        </p:txBody>
      </p:sp>
      <p:sp>
        <p:nvSpPr>
          <p:cNvPr id="9" name="Rounded Rectangle 8"/>
          <p:cNvSpPr/>
          <p:nvPr/>
        </p:nvSpPr>
        <p:spPr>
          <a:xfrm>
            <a:off x="612648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5212080"/>
            <a:ext cx="2377440" cy="1005840"/>
          </a:xfrm>
          <a:prstGeom prst="rect">
            <a:avLst/>
          </a:prstGeom>
          <a:noFill/>
        </p:spPr>
        <p:txBody>
          <a:bodyPr wrap="square">
            <a:spAutoFit/>
          </a:bodyPr>
          <a:lstStyle/>
          <a:p>
            <a:pPr>
              <a:defRPr sz="1100" b="1">
                <a:solidFill>
                  <a:srgbClr val="FFFFFF"/>
                </a:solidFill>
                <a:latin typeface="Microsoft YaHei"/>
              </a:defRPr>
            </a:pPr>
            <a:r>
              <a:t>🤖 5大协同智能体</a:t>
            </a:r>
          </a:p>
          <a:p>
            <a:pPr>
              <a:spcBef>
                <a:spcPts val="300"/>
              </a:spcBef>
              <a:defRPr sz="900">
                <a:solidFill>
                  <a:srgbClr val="94A3B8"/>
                </a:solidFill>
                <a:latin typeface="Microsoft YaHei"/>
              </a:defRPr>
            </a:pPr>
            <a:r>
              <a:t>微内核全序事件总线·零死锁零推诿</a:t>
            </a:r>
          </a:p>
        </p:txBody>
      </p:sp>
      <p:sp>
        <p:nvSpPr>
          <p:cNvPr id="11" name="Rounded Rectangle 10"/>
          <p:cNvSpPr/>
          <p:nvPr/>
        </p:nvSpPr>
        <p:spPr>
          <a:xfrm>
            <a:off x="882396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15400" y="5212080"/>
            <a:ext cx="2377440" cy="1005840"/>
          </a:xfrm>
          <a:prstGeom prst="rect">
            <a:avLst/>
          </a:prstGeom>
          <a:noFill/>
        </p:spPr>
        <p:txBody>
          <a:bodyPr wrap="square">
            <a:spAutoFit/>
          </a:bodyPr>
          <a:lstStyle/>
          <a:p>
            <a:pPr>
              <a:defRPr sz="1100" b="1">
                <a:solidFill>
                  <a:srgbClr val="FFFFFF"/>
                </a:solidFill>
                <a:latin typeface="Microsoft YaHei"/>
              </a:defRPr>
            </a:pPr>
            <a:r>
              <a:t>🛡️ 亲情数字安全网</a:t>
            </a:r>
          </a:p>
          <a:p>
            <a:pPr>
              <a:spcBef>
                <a:spcPts val="300"/>
              </a:spcBef>
              <a:defRPr sz="900">
                <a:solidFill>
                  <a:srgbClr val="94A3B8"/>
                </a:solidFill>
                <a:latin typeface="Microsoft YaHei"/>
              </a:defRPr>
            </a:pPr>
            <a:r>
              <a:t>动态球面走廊·突发急症秒级绿通</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宏观背景：银发时代的呼唤与国之重器担当</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08DDA"/>
                </a:solidFill>
                <a:latin typeface="Arial"/>
              </a:defRPr>
            </a:pPr>
            <a:r>
              <a:t>3.1 </a:t>
            </a:r>
            <a:r>
              <a:rPr sz="1300" b="1">
                <a:solidFill>
                  <a:srgbClr val="0F172A"/>
                </a:solidFill>
                <a:latin typeface="Microsoft YaHei"/>
              </a:rPr>
              <a:t>亿长辈</a:t>
            </a:r>
          </a:p>
          <a:p>
            <a:pPr>
              <a:spcBef>
                <a:spcPts val="400"/>
              </a:spcBef>
              <a:defRPr sz="1050">
                <a:solidFill>
                  <a:srgbClr val="334155"/>
                </a:solidFill>
                <a:latin typeface="Microsoft YaHei"/>
              </a:defRPr>
            </a:pPr>
            <a:r>
              <a:t>我国60岁以上老人突破3.1亿(占比22%)</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D97706"/>
                </a:solidFill>
                <a:latin typeface="Arial"/>
              </a:defRPr>
            </a:pPr>
            <a:r>
              <a:t>50%+ </a:t>
            </a:r>
            <a:r>
              <a:rPr sz="1300" b="1">
                <a:solidFill>
                  <a:srgbClr val="0F172A"/>
                </a:solidFill>
                <a:latin typeface="Microsoft YaHei"/>
              </a:rPr>
              <a:t>跌倒占比</a:t>
            </a:r>
          </a:p>
          <a:p>
            <a:pPr>
              <a:spcBef>
                <a:spcPts val="400"/>
              </a:spcBef>
              <a:defRPr sz="1050">
                <a:solidFill>
                  <a:srgbClr val="334155"/>
                </a:solidFill>
                <a:latin typeface="Microsoft YaHei"/>
              </a:defRPr>
            </a:pPr>
            <a:r>
              <a:t>世界卫生组织统计:老人跌倒高发于台阶与陡坡</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059669"/>
                </a:solidFill>
                <a:latin typeface="Arial"/>
              </a:defRPr>
            </a:pPr>
            <a:r>
              <a:t>0 </a:t>
            </a:r>
            <a:r>
              <a:rPr sz="1300" b="1">
                <a:solidFill>
                  <a:srgbClr val="0F172A"/>
                </a:solidFill>
                <a:latin typeface="Microsoft YaHei"/>
              </a:rPr>
              <a:t>项适老微指标</a:t>
            </a:r>
          </a:p>
          <a:p>
            <a:pPr>
              <a:spcBef>
                <a:spcPts val="400"/>
              </a:spcBef>
              <a:defRPr sz="1050">
                <a:solidFill>
                  <a:srgbClr val="334155"/>
                </a:solidFill>
                <a:latin typeface="Microsoft YaHei"/>
              </a:defRPr>
            </a:pPr>
            <a:r>
              <a:t>主流商业电子地图对老年慢病微地形优化为空白</a:t>
            </a:r>
          </a:p>
        </p:txBody>
      </p:sp>
      <p:sp>
        <p:nvSpPr>
          <p:cNvPr id="10" name="Rounded Rectangle 9"/>
          <p:cNvSpPr/>
          <p:nvPr/>
        </p:nvSpPr>
        <p:spPr>
          <a:xfrm>
            <a:off x="731520" y="2560320"/>
            <a:ext cx="694944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658368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国家战略双重交汇：</a:t>
            </a:r>
            <a:r>
              <a:rPr sz="1050">
                <a:solidFill>
                  <a:srgbClr val="334155"/>
                </a:solidFill>
                <a:latin typeface="Microsoft YaHei"/>
              </a:rPr>
              <a:t>积极应对人口老龄化国家战略与北斗产业规模化应用国家工程在民生领域的历史性交汇。</a:t>
            </a:r>
          </a:p>
          <a:p>
            <a:pPr>
              <a:spcBef>
                <a:spcPts val="700"/>
              </a:spcBef>
            </a:pPr>
            <a:r>
              <a:rPr sz="1100" b="1">
                <a:solidFill>
                  <a:srgbClr val="008DDA"/>
                </a:solidFill>
              </a:rPr>
              <a:t>● </a:t>
            </a:r>
            <a:r>
              <a:rPr sz="1100" b="1">
                <a:solidFill>
                  <a:srgbClr val="0F172A"/>
                </a:solidFill>
                <a:latin typeface="Microsoft YaHei"/>
              </a:rPr>
              <a:t>下肢骨骼退化现实：</a:t>
            </a:r>
            <a:r>
              <a:rPr sz="1050">
                <a:solidFill>
                  <a:srgbClr val="334155"/>
                </a:solidFill>
                <a:latin typeface="Microsoft YaHei"/>
              </a:rPr>
              <a:t>我国过半高龄长辈患有退行性膝骨关节炎，畏惧长台阶、过街天桥与长坡，一次意外跌倒即可能造成致命髋部骨折。</a:t>
            </a:r>
          </a:p>
          <a:p>
            <a:pPr>
              <a:spcBef>
                <a:spcPts val="700"/>
              </a:spcBef>
            </a:pPr>
            <a:r>
              <a:rPr sz="1100" b="1">
                <a:solidFill>
                  <a:srgbClr val="008DDA"/>
                </a:solidFill>
              </a:rPr>
              <a:t>● </a:t>
            </a:r>
            <a:r>
              <a:rPr sz="1100" b="1">
                <a:solidFill>
                  <a:srgbClr val="0F172A"/>
                </a:solidFill>
                <a:latin typeface="Microsoft YaHei"/>
              </a:rPr>
              <a:t>数字鸿沟心理壁垒：</a:t>
            </a:r>
            <a:r>
              <a:rPr sz="1050">
                <a:solidFill>
                  <a:srgbClr val="334155"/>
                </a:solidFill>
                <a:latin typeface="Microsoft YaHei"/>
              </a:rPr>
              <a:t>繁琐层级、细小文字和“向西北走400米”的生硬术语，使得长辈“看得见屏幕，却走不出家门”，陷入严重数字失能。</a:t>
            </a:r>
          </a:p>
          <a:p>
            <a:pPr>
              <a:spcBef>
                <a:spcPts val="700"/>
              </a:spcBef>
            </a:pPr>
            <a:r>
              <a:rPr sz="1100" b="1">
                <a:solidFill>
                  <a:srgbClr val="008DDA"/>
                </a:solidFill>
              </a:rPr>
              <a:t>● </a:t>
            </a:r>
            <a:r>
              <a:rPr sz="1100" b="1">
                <a:solidFill>
                  <a:srgbClr val="0F172A"/>
                </a:solidFill>
                <a:latin typeface="Microsoft YaHei"/>
              </a:rPr>
              <a:t>两代亲情监护断层：</a:t>
            </a:r>
            <a:r>
              <a:rPr sz="1050">
                <a:solidFill>
                  <a:srgbClr val="334155"/>
                </a:solidFill>
                <a:latin typeface="Microsoft YaHei"/>
              </a:rPr>
              <a:t>数以亿计的异地务工子女时刻担忧空巢父母出行安危，但市面粗放定位软件侵犯长辈隐私，易诱发猜忌反感。</a:t>
            </a:r>
          </a:p>
        </p:txBody>
      </p:sp>
      <p:sp>
        <p:nvSpPr>
          <p:cNvPr id="12" name="Rounded Rectangle 11"/>
          <p:cNvSpPr/>
          <p:nvPr/>
        </p:nvSpPr>
        <p:spPr>
          <a:xfrm>
            <a:off x="8046720" y="2560320"/>
            <a:ext cx="338328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3931920"/>
            <a:ext cx="301752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【请在此插入：老年人面对复杂导航的困顿场景 / 老旧社区无障碍台阶痛点调研图】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深度剖析：传统商业导航与通用大模型在银发场景的“双重失效”</a:t>
            </a:r>
          </a:p>
        </p:txBody>
      </p:sp>
      <p:sp>
        <p:nvSpPr>
          <p:cNvPr id="4" name="Rounded Rectangle 3"/>
          <p:cNvSpPr/>
          <p:nvPr/>
        </p:nvSpPr>
        <p:spPr>
          <a:xfrm>
            <a:off x="731520" y="1463040"/>
            <a:ext cx="3383280"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3108960" cy="4663440"/>
          </a:xfrm>
          <a:prstGeom prst="rect">
            <a:avLst/>
          </a:prstGeom>
          <a:noFill/>
        </p:spPr>
        <p:txBody>
          <a:bodyPr wrap="square">
            <a:spAutoFit/>
          </a:bodyPr>
          <a:lstStyle/>
          <a:p>
            <a:pPr>
              <a:defRPr sz="1300" b="1">
                <a:solidFill>
                  <a:srgbClr val="DC2626"/>
                </a:solidFill>
                <a:latin typeface="Microsoft YaHei"/>
              </a:defRPr>
            </a:pPr>
            <a:r>
              <a:t>❌ 传统商业地图：冷酷效率</a:t>
            </a:r>
          </a:p>
          <a:p>
            <a:pPr>
              <a:spcBef>
                <a:spcPts val="700"/>
              </a:spcBef>
            </a:pPr>
            <a:r>
              <a:rPr sz="1100" b="1">
                <a:solidFill>
                  <a:srgbClr val="008DDA"/>
                </a:solidFill>
              </a:rPr>
              <a:t>● </a:t>
            </a:r>
            <a:r>
              <a:rPr sz="1100" b="1">
                <a:solidFill>
                  <a:srgbClr val="0F172A"/>
                </a:solidFill>
                <a:latin typeface="Microsoft YaHei"/>
              </a:rPr>
              <a:t>机械追求最短距离：</a:t>
            </a:r>
            <a:r>
              <a:rPr sz="1050">
                <a:solidFill>
                  <a:srgbClr val="334155"/>
                </a:solidFill>
                <a:latin typeface="Microsoft YaHei"/>
              </a:rPr>
              <a:t>屡屡将慢病老人引向高架天桥、地下通道与数十级险陡台阶。</a:t>
            </a:r>
          </a:p>
          <a:p>
            <a:pPr>
              <a:spcBef>
                <a:spcPts val="700"/>
              </a:spcBef>
            </a:pPr>
            <a:r>
              <a:rPr sz="1100" b="1">
                <a:solidFill>
                  <a:srgbClr val="008DDA"/>
                </a:solidFill>
              </a:rPr>
              <a:t>● </a:t>
            </a:r>
            <a:r>
              <a:rPr sz="1100" b="1">
                <a:solidFill>
                  <a:srgbClr val="0F172A"/>
                </a:solidFill>
                <a:latin typeface="Microsoft YaHei"/>
              </a:rPr>
              <a:t>人行尺度精度不足：</a:t>
            </a:r>
            <a:r>
              <a:rPr sz="1050">
                <a:solidFill>
                  <a:srgbClr val="334155"/>
                </a:solidFill>
                <a:latin typeface="Microsoft YaHei"/>
              </a:rPr>
              <a:t>单点定位误差达5-15米，无法分辨长辈在平缓人行道还是机动车道。</a:t>
            </a:r>
          </a:p>
          <a:p>
            <a:pPr>
              <a:spcBef>
                <a:spcPts val="700"/>
              </a:spcBef>
            </a:pPr>
            <a:r>
              <a:rPr sz="1100" b="1">
                <a:solidFill>
                  <a:srgbClr val="008DDA"/>
                </a:solidFill>
              </a:rPr>
              <a:t>● </a:t>
            </a:r>
            <a:r>
              <a:rPr sz="1100" b="1">
                <a:solidFill>
                  <a:srgbClr val="0F172A"/>
                </a:solidFill>
                <a:latin typeface="Microsoft YaHei"/>
              </a:rPr>
              <a:t>慢病体能完全盲区：</a:t>
            </a:r>
            <a:r>
              <a:rPr sz="1050">
                <a:solidFill>
                  <a:srgbClr val="334155"/>
                </a:solidFill>
                <a:latin typeface="Microsoft YaHei"/>
              </a:rPr>
              <a:t>无法感知老人膝盖疼痛、心肺耐力极限，无沿途长椅与树荫规划。</a:t>
            </a:r>
          </a:p>
        </p:txBody>
      </p:sp>
      <p:sp>
        <p:nvSpPr>
          <p:cNvPr id="6" name="Rounded Rectangle 5"/>
          <p:cNvSpPr/>
          <p:nvPr/>
        </p:nvSpPr>
        <p:spPr>
          <a:xfrm>
            <a:off x="4389120" y="1463040"/>
            <a:ext cx="3383280"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00200"/>
            <a:ext cx="3108960" cy="4663440"/>
          </a:xfrm>
          <a:prstGeom prst="rect">
            <a:avLst/>
          </a:prstGeom>
          <a:noFill/>
        </p:spPr>
        <p:txBody>
          <a:bodyPr wrap="square">
            <a:spAutoFit/>
          </a:bodyPr>
          <a:lstStyle/>
          <a:p>
            <a:pPr>
              <a:defRPr sz="1300" b="1">
                <a:solidFill>
                  <a:srgbClr val="D97706"/>
                </a:solidFill>
                <a:latin typeface="Microsoft YaHei"/>
              </a:defRPr>
            </a:pPr>
            <a:r>
              <a:t>❌ 通用大模型：虚妄幻觉</a:t>
            </a:r>
          </a:p>
          <a:p>
            <a:pPr>
              <a:spcBef>
                <a:spcPts val="700"/>
              </a:spcBef>
            </a:pPr>
            <a:r>
              <a:rPr sz="1100" b="1">
                <a:solidFill>
                  <a:srgbClr val="008DDA"/>
                </a:solidFill>
              </a:rPr>
              <a:t>● </a:t>
            </a:r>
            <a:r>
              <a:rPr sz="1100" b="1">
                <a:solidFill>
                  <a:srgbClr val="0F172A"/>
                </a:solidFill>
                <a:latin typeface="Microsoft YaHei"/>
              </a:rPr>
              <a:t>缺乏真实时空基准：</a:t>
            </a:r>
            <a:r>
              <a:rPr sz="1050">
                <a:solidFill>
                  <a:srgbClr val="334155"/>
                </a:solidFill>
                <a:latin typeface="Microsoft YaHei"/>
              </a:rPr>
              <a:t>纯文本概率推导，根本没有高精空间坐标解算与实时卫星信号处理能力。</a:t>
            </a:r>
          </a:p>
          <a:p>
            <a:pPr>
              <a:spcBef>
                <a:spcPts val="700"/>
              </a:spcBef>
            </a:pPr>
            <a:r>
              <a:rPr sz="1100" b="1">
                <a:solidFill>
                  <a:srgbClr val="008DDA"/>
                </a:solidFill>
              </a:rPr>
              <a:t>● </a:t>
            </a:r>
            <a:r>
              <a:rPr sz="1100" b="1">
                <a:solidFill>
                  <a:srgbClr val="0F172A"/>
                </a:solidFill>
                <a:latin typeface="Microsoft YaHei"/>
              </a:rPr>
              <a:t>严重幻觉与安全失控：</a:t>
            </a:r>
            <a:r>
              <a:rPr sz="1050">
                <a:solidFill>
                  <a:srgbClr val="334155"/>
                </a:solidFill>
                <a:latin typeface="Microsoft YaHei"/>
              </a:rPr>
              <a:t>在路径与医疗指引中偶发胡编乱造，生命安全攸关场景绝对不可直接交付。</a:t>
            </a:r>
          </a:p>
          <a:p>
            <a:pPr>
              <a:spcBef>
                <a:spcPts val="700"/>
              </a:spcBef>
            </a:pPr>
            <a:r>
              <a:rPr sz="1100" b="1">
                <a:solidFill>
                  <a:srgbClr val="008DDA"/>
                </a:solidFill>
              </a:rPr>
              <a:t>● </a:t>
            </a:r>
            <a:r>
              <a:rPr sz="1100" b="1">
                <a:solidFill>
                  <a:srgbClr val="0F172A"/>
                </a:solidFill>
                <a:latin typeface="Microsoft YaHei"/>
              </a:rPr>
              <a:t>多Agent推诿死锁：</a:t>
            </a:r>
            <a:r>
              <a:rPr sz="1050">
                <a:solidFill>
                  <a:srgbClr val="334155"/>
                </a:solidFill>
                <a:latin typeface="Microsoft YaHei"/>
              </a:rPr>
              <a:t>缺乏全序事件契约与确定性状态机约束，各智能体互相踢皮球。</a:t>
            </a:r>
          </a:p>
        </p:txBody>
      </p:sp>
      <p:sp>
        <p:nvSpPr>
          <p:cNvPr id="8" name="Rounded Rectangle 7"/>
          <p:cNvSpPr/>
          <p:nvPr/>
        </p:nvSpPr>
        <p:spPr>
          <a:xfrm>
            <a:off x="8046720" y="1463040"/>
            <a:ext cx="3383280" cy="4937760"/>
          </a:xfrm>
          <a:prstGeom prst="roundRect">
            <a:avLst/>
          </a:prstGeom>
          <a:solidFill>
            <a:srgbClr val="F0FDFA"/>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600200"/>
            <a:ext cx="3108960" cy="4663440"/>
          </a:xfrm>
          <a:prstGeom prst="rect">
            <a:avLst/>
          </a:prstGeom>
          <a:noFill/>
        </p:spPr>
        <p:txBody>
          <a:bodyPr wrap="square">
            <a:spAutoFit/>
          </a:bodyPr>
          <a:lstStyle/>
          <a:p>
            <a:pPr>
              <a:defRPr sz="1300" b="1">
                <a:solidFill>
                  <a:srgbClr val="059669"/>
                </a:solidFill>
                <a:latin typeface="Microsoft YaHei"/>
              </a:defRPr>
            </a:pPr>
            <a:r>
              <a:t>✅ 银发导航智能体：精准闭环</a:t>
            </a:r>
          </a:p>
          <a:p>
            <a:pPr>
              <a:spcBef>
                <a:spcPts val="700"/>
              </a:spcBef>
            </a:pPr>
            <a:r>
              <a:rPr sz="1100" b="1">
                <a:solidFill>
                  <a:srgbClr val="008DDA"/>
                </a:solidFill>
              </a:rPr>
              <a:t>● </a:t>
            </a:r>
            <a:r>
              <a:rPr sz="1100" b="1">
                <a:solidFill>
                  <a:srgbClr val="0F172A"/>
                </a:solidFill>
                <a:latin typeface="Microsoft YaHei"/>
              </a:rPr>
              <a:t>北斗亚米级时空底座：</a:t>
            </a:r>
            <a:r>
              <a:rPr sz="1050">
                <a:solidFill>
                  <a:srgbClr val="334155"/>
                </a:solidFill>
                <a:latin typeface="Microsoft YaHei"/>
              </a:rPr>
              <a:t>接入BDS差分基准站网与CGCS2000坐标系，实现0.35m人行高精定位。</a:t>
            </a:r>
          </a:p>
          <a:p>
            <a:pPr>
              <a:spcBef>
                <a:spcPts val="700"/>
              </a:spcBef>
            </a:pPr>
            <a:r>
              <a:rPr sz="1100" b="1">
                <a:solidFill>
                  <a:srgbClr val="008DDA"/>
                </a:solidFill>
              </a:rPr>
              <a:t>● </a:t>
            </a:r>
            <a:r>
              <a:rPr sz="1100" b="1">
                <a:solidFill>
                  <a:srgbClr val="0F172A"/>
                </a:solidFill>
                <a:latin typeface="Microsoft YaHei"/>
              </a:rPr>
              <a:t>适老微地形代价路由：</a:t>
            </a:r>
            <a:r>
              <a:rPr sz="1050">
                <a:solidFill>
                  <a:srgbClr val="334155"/>
                </a:solidFill>
                <a:latin typeface="Microsoft YaHei"/>
              </a:rPr>
              <a:t>台阶硬阻断剪枝+坡度二次惩罚，100%优选无障碍平缓绿道。</a:t>
            </a:r>
          </a:p>
          <a:p>
            <a:pPr>
              <a:spcBef>
                <a:spcPts val="700"/>
              </a:spcBef>
            </a:pPr>
            <a:r>
              <a:rPr sz="1100" b="1">
                <a:solidFill>
                  <a:srgbClr val="008DDA"/>
                </a:solidFill>
              </a:rPr>
              <a:t>● </a:t>
            </a:r>
            <a:r>
              <a:rPr sz="1100" b="1">
                <a:solidFill>
                  <a:srgbClr val="0F172A"/>
                </a:solidFill>
                <a:latin typeface="Microsoft YaHei"/>
              </a:rPr>
              <a:t>5大Agent确定性装配：</a:t>
            </a:r>
            <a:r>
              <a:rPr sz="1050">
                <a:solidFill>
                  <a:srgbClr val="334155"/>
                </a:solidFill>
                <a:latin typeface="Microsoft YaHei"/>
              </a:rPr>
              <a:t>微内核全序事件契约，强类型AgentReport，0幻觉生成护航方案。</a:t>
            </a:r>
          </a:p>
          <a:p>
            <a:pPr>
              <a:spcBef>
                <a:spcPts val="700"/>
              </a:spcBef>
            </a:pPr>
            <a:r>
              <a:rPr sz="1100" b="1">
                <a:solidFill>
                  <a:srgbClr val="008DDA"/>
                </a:solidFill>
              </a:rPr>
              <a:t>● </a:t>
            </a:r>
            <a:r>
              <a:rPr sz="1100" b="1">
                <a:solidFill>
                  <a:srgbClr val="0F172A"/>
                </a:solidFill>
                <a:latin typeface="Microsoft YaHei"/>
              </a:rPr>
              <a:t>两代安心柔性守护：</a:t>
            </a:r>
            <a:r>
              <a:rPr sz="1050">
                <a:solidFill>
                  <a:srgbClr val="334155"/>
                </a:solidFill>
                <a:latin typeface="Microsoft YaHei"/>
              </a:rPr>
              <a:t>动态安全走廊+异常滞留预警+R6脱敏反向审计，两代尊严平等。</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破局之道：银发导航智能体系统总体分层架构</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【第1层：极简人机交互层】：</a:t>
            </a:r>
            <a:r>
              <a:rPr sz="1050">
                <a:solidFill>
                  <a:srgbClr val="334155"/>
                </a:solidFill>
                <a:latin typeface="Microsoft YaHei"/>
              </a:rPr>
              <a:t>120px超大麦克风大白话直达、WCAG 2.1 AAA高对比度大字、实景地标指引卡片。</a:t>
            </a:r>
          </a:p>
          <a:p>
            <a:pPr>
              <a:spcBef>
                <a:spcPts val="700"/>
              </a:spcBef>
            </a:pPr>
            <a:r>
              <a:rPr sz="1100" b="1">
                <a:solidFill>
                  <a:srgbClr val="008DDA"/>
                </a:solidFill>
              </a:rPr>
              <a:t>● </a:t>
            </a:r>
            <a:r>
              <a:rPr sz="1100" b="1">
                <a:solidFill>
                  <a:srgbClr val="0F172A"/>
                </a:solidFill>
                <a:latin typeface="Microsoft YaHei"/>
              </a:rPr>
              <a:t>【第2层：微内核事件调度层】：</a:t>
            </a:r>
            <a:r>
              <a:rPr sz="1050">
                <a:solidFill>
                  <a:srgbClr val="334155"/>
                </a:solidFill>
                <a:latin typeface="Microsoft YaHei"/>
              </a:rPr>
              <a:t>基于Redis/内存全序事件总线，单调自增序号审计，支持Waterfall/Parallel/Serial派发驱动。</a:t>
            </a:r>
          </a:p>
          <a:p>
            <a:pPr>
              <a:spcBef>
                <a:spcPts val="700"/>
              </a:spcBef>
            </a:pPr>
            <a:r>
              <a:rPr sz="1100" b="1">
                <a:solidFill>
                  <a:srgbClr val="008DDA"/>
                </a:solidFill>
              </a:rPr>
              <a:t>● </a:t>
            </a:r>
            <a:r>
              <a:rPr sz="1100" b="1">
                <a:solidFill>
                  <a:srgbClr val="0F172A"/>
                </a:solidFill>
                <a:latin typeface="Microsoft YaHei"/>
              </a:rPr>
              <a:t>【第3层：5大领域智能体家族】：</a:t>
            </a:r>
            <a:r>
              <a:rPr sz="1050">
                <a:solidFill>
                  <a:srgbClr val="334155"/>
                </a:solidFill>
                <a:latin typeface="Microsoft YaHei"/>
              </a:rPr>
              <a:t>主调度Agent、健康体能Agent、北斗导航Agent、气象感知Agent、安全守护Agent分工自治。</a:t>
            </a:r>
          </a:p>
          <a:p>
            <a:pPr>
              <a:spcBef>
                <a:spcPts val="700"/>
              </a:spcBef>
            </a:pPr>
            <a:r>
              <a:rPr sz="1100" b="1">
                <a:solidFill>
                  <a:srgbClr val="008DDA"/>
                </a:solidFill>
              </a:rPr>
              <a:t>● </a:t>
            </a:r>
            <a:r>
              <a:rPr sz="1100" b="1">
                <a:solidFill>
                  <a:srgbClr val="0F172A"/>
                </a:solidFill>
                <a:latin typeface="Microsoft YaHei"/>
              </a:rPr>
              <a:t>【第4层：北斗适老核心算法引擎】：</a:t>
            </a:r>
            <a:r>
              <a:rPr sz="1050">
                <a:solidFill>
                  <a:srgbClr val="334155"/>
                </a:solidFill>
                <a:latin typeface="Microsoft YaHei"/>
              </a:rPr>
              <a:t>CGCS2000大地坐标解算、适老微地形代价目标方程求解、抗微动卡尔曼滤波、动态球面走廊。</a:t>
            </a:r>
          </a:p>
          <a:p>
            <a:pPr>
              <a:spcBef>
                <a:spcPts val="700"/>
              </a:spcBef>
            </a:pPr>
            <a:r>
              <a:rPr sz="1100" b="1">
                <a:solidFill>
                  <a:srgbClr val="008DDA"/>
                </a:solidFill>
              </a:rPr>
              <a:t>● </a:t>
            </a:r>
            <a:r>
              <a:rPr sz="1100" b="1">
                <a:solidFill>
                  <a:srgbClr val="0F172A"/>
                </a:solidFill>
                <a:latin typeface="Microsoft YaHei"/>
              </a:rPr>
              <a:t>【第5层：确定性方案装配交付】：</a:t>
            </a:r>
            <a:r>
              <a:rPr sz="1050">
                <a:solidFill>
                  <a:srgbClr val="334155"/>
                </a:solidFill>
                <a:latin typeface="Microsoft YaHei"/>
              </a:rPr>
              <a:t>PlanBuilder模版装配，0自由文本幻觉，生成图文五联单《北斗适老出行护航方案书》。</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【请在此插入：系统五层总体架构拓扑图 / 数据流与事件流转时序图】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北斗核心技术一：亚米级时空基准与CGCS2000国家大地坐标解算</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08DDA"/>
                </a:solidFill>
                <a:latin typeface="Arial"/>
              </a:defRPr>
            </a:pPr>
            <a:r>
              <a:t>0.35 </a:t>
            </a:r>
            <a:r>
              <a:rPr sz="1300" b="1">
                <a:solidFill>
                  <a:srgbClr val="0F172A"/>
                </a:solidFill>
                <a:latin typeface="Microsoft YaHei"/>
              </a:rPr>
              <a:t>米</a:t>
            </a:r>
          </a:p>
          <a:p>
            <a:pPr>
              <a:spcBef>
                <a:spcPts val="400"/>
              </a:spcBef>
              <a:defRPr sz="1050">
                <a:solidFill>
                  <a:srgbClr val="334155"/>
                </a:solidFill>
                <a:latin typeface="Microsoft YaHei"/>
              </a:defRPr>
            </a:pPr>
            <a:r>
              <a:t>北斗地基增强RTK固定解水平定位精度</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59669"/>
                </a:solidFill>
                <a:latin typeface="Arial"/>
              </a:defRPr>
            </a:pPr>
            <a:r>
              <a:t>18-24 </a:t>
            </a:r>
            <a:r>
              <a:rPr sz="1300" b="1">
                <a:solidFill>
                  <a:srgbClr val="0F172A"/>
                </a:solidFill>
                <a:latin typeface="Microsoft YaHei"/>
              </a:rPr>
              <a:t>颗</a:t>
            </a:r>
          </a:p>
          <a:p>
            <a:pPr>
              <a:spcBef>
                <a:spcPts val="400"/>
              </a:spcBef>
              <a:defRPr sz="1050">
                <a:solidFill>
                  <a:srgbClr val="334155"/>
                </a:solidFill>
                <a:latin typeface="Microsoft YaHei"/>
              </a:defRPr>
            </a:pPr>
            <a:r>
              <a:t>长沙核心城区可见北斗二号/三号卫星数</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&lt; 0.9 </a:t>
            </a:r>
            <a:r>
              <a:rPr sz="1300" b="1">
                <a:solidFill>
                  <a:srgbClr val="0F172A"/>
                </a:solidFill>
                <a:latin typeface="Microsoft YaHei"/>
              </a:rPr>
              <a:t>HDOP</a:t>
            </a:r>
          </a:p>
          <a:p>
            <a:pPr>
              <a:spcBef>
                <a:spcPts val="400"/>
              </a:spcBef>
              <a:defRPr sz="1050">
                <a:solidFill>
                  <a:srgbClr val="334155"/>
                </a:solidFill>
                <a:latin typeface="Microsoft YaHei"/>
              </a:defRPr>
            </a:pPr>
            <a:r>
              <a:t>高仰角IGSO/GEO卫星赋能，几何结构极佳</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中国法定空间基准：</a:t>
            </a:r>
            <a:r>
              <a:rPr sz="1050">
                <a:solidFill>
                  <a:srgbClr val="334155"/>
                </a:solidFill>
                <a:latin typeface="Microsoft YaHei"/>
              </a:rPr>
              <a:t>底层全面原生采用CGCS2000国家大地坐标系，与民用图层GCJ-02建立高精严密双向投影管道。</a:t>
            </a:r>
          </a:p>
          <a:p>
            <a:pPr>
              <a:spcBef>
                <a:spcPts val="700"/>
              </a:spcBef>
            </a:pPr>
            <a:r>
              <a:rPr sz="1100" b="1">
                <a:solidFill>
                  <a:srgbClr val="008DDA"/>
                </a:solidFill>
              </a:rPr>
              <a:t>● </a:t>
            </a:r>
            <a:r>
              <a:rPr sz="1100" b="1">
                <a:solidFill>
                  <a:srgbClr val="0F172A"/>
                </a:solidFill>
                <a:latin typeface="Microsoft YaHei"/>
              </a:rPr>
              <a:t>NMEA-0183 遥测实时校验：</a:t>
            </a:r>
            <a:r>
              <a:rPr sz="1050">
                <a:solidFill>
                  <a:srgbClr val="334155"/>
                </a:solidFill>
                <a:latin typeface="Microsoft YaHei"/>
              </a:rPr>
              <a:t>对北斗输出的 $BDGGA / $GNGGA 差分报文进行高频毫秒级语法校验与校验和解码。</a:t>
            </a:r>
          </a:p>
          <a:p>
            <a:pPr>
              <a:spcBef>
                <a:spcPts val="700"/>
              </a:spcBef>
            </a:pPr>
            <a:r>
              <a:rPr sz="1100" b="1">
                <a:solidFill>
                  <a:srgbClr val="008DDA"/>
                </a:solidFill>
              </a:rPr>
              <a:t>● </a:t>
            </a:r>
            <a:r>
              <a:rPr sz="1100" b="1">
                <a:solidFill>
                  <a:srgbClr val="0F172A"/>
                </a:solidFill>
                <a:latin typeface="Microsoft YaHei"/>
              </a:rPr>
              <a:t>城市高楼多径穿透：</a:t>
            </a:r>
            <a:r>
              <a:rPr sz="1050">
                <a:solidFill>
                  <a:srgbClr val="334155"/>
                </a:solidFill>
                <a:latin typeface="Microsoft YaHei"/>
              </a:rPr>
              <a:t>充分利用北斗三号独有的 B1C、B2a 复合三频信号抗多径特性，有效克服老旧住宅区遮挡跳点。</a:t>
            </a:r>
          </a:p>
          <a:p>
            <a:pPr>
              <a:spcBef>
                <a:spcPts val="700"/>
              </a:spcBef>
            </a:pPr>
            <a:r>
              <a:rPr sz="1100" b="1">
                <a:solidFill>
                  <a:srgbClr val="008DDA"/>
                </a:solidFill>
              </a:rPr>
              <a:t>● </a:t>
            </a:r>
            <a:r>
              <a:rPr sz="1100" b="1">
                <a:solidFill>
                  <a:srgbClr val="0F172A"/>
                </a:solidFill>
                <a:latin typeface="Microsoft YaHei"/>
              </a:rPr>
              <a:t>高程测高辅助分析：</a:t>
            </a:r>
            <a:r>
              <a:rPr sz="1050">
                <a:solidFill>
                  <a:srgbClr val="334155"/>
                </a:solidFill>
                <a:latin typeface="Microsoft YaHei"/>
              </a:rPr>
              <a:t>0.6米高程精度，在老人攀爬台阶或进入天桥坡道瞬间提供三维垂直感知。</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【请在此插入：北斗三号空间星座图 / CORS差分站网与NMEA-0183报文解析示意图】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北斗核心技术二：适老微地形代价路由模型（目标方程与剪枝）</a:t>
            </a:r>
          </a:p>
        </p:txBody>
      </p:sp>
      <p:sp>
        <p:nvSpPr>
          <p:cNvPr id="4" name="Rounded Rectangle 3"/>
          <p:cNvSpPr/>
          <p:nvPr/>
        </p:nvSpPr>
        <p:spPr>
          <a:xfrm>
            <a:off x="731520" y="1371600"/>
            <a:ext cx="10698480" cy="1371600"/>
          </a:xfrm>
          <a:prstGeom prst="roundRect">
            <a:avLst/>
          </a:prstGeom>
          <a:solidFill>
            <a:srgbClr val="F1F5F9"/>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10332720" cy="1188720"/>
          </a:xfrm>
          <a:prstGeom prst="rect">
            <a:avLst/>
          </a:prstGeom>
          <a:noFill/>
        </p:spPr>
        <p:txBody>
          <a:bodyPr wrap="square">
            <a:spAutoFit/>
          </a:bodyPr>
          <a:lstStyle/>
          <a:p>
            <a:pPr>
              <a:defRPr sz="1100" b="1">
                <a:solidFill>
                  <a:srgbClr val="1A4D8C"/>
                </a:solidFill>
                <a:latin typeface="Microsoft YaHei"/>
              </a:defRPr>
            </a:pPr>
            <a:r>
              <a:t>适老微地形综合代价目标函数 (Elder Micro-Terrain Cost Formula):</a:t>
            </a:r>
          </a:p>
          <a:p>
            <a:pPr>
              <a:spcBef>
                <a:spcPts val="400"/>
              </a:spcBef>
              <a:defRPr sz="1600" b="1">
                <a:solidFill>
                  <a:srgbClr val="0F172A"/>
                </a:solidFill>
                <a:latin typeface="Consolas"/>
              </a:defRPr>
            </a:pPr>
            <a:r>
              <a:t>Cost(E) = ∑ L(e) · [ 1 + C_slope(e) + C_stairs(e) + C_weather(e) - B_amenity(e) ]</a:t>
            </a:r>
          </a:p>
        </p:txBody>
      </p:sp>
      <p:sp>
        <p:nvSpPr>
          <p:cNvPr id="6" name="Rounded Rectangle 5"/>
          <p:cNvSpPr/>
          <p:nvPr/>
        </p:nvSpPr>
        <p:spPr>
          <a:xfrm>
            <a:off x="731520" y="2926080"/>
            <a:ext cx="5212080" cy="3474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063240"/>
            <a:ext cx="4846320" cy="320040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台阶硬阻断剪枝 (C_stairs)：</a:t>
            </a:r>
            <a:r>
              <a:rPr sz="1050">
                <a:solidFill>
                  <a:srgbClr val="334155"/>
                </a:solidFill>
                <a:latin typeface="Microsoft YaHei"/>
              </a:rPr>
              <a:t>长辈下肢慢病时对台阶赋无穷大惩罚 (Cost = ∞)，Dijkstra 搜索直接剪枝剔除。</a:t>
            </a:r>
          </a:p>
          <a:p>
            <a:pPr>
              <a:spcBef>
                <a:spcPts val="700"/>
              </a:spcBef>
            </a:pPr>
            <a:r>
              <a:rPr sz="1100" b="1">
                <a:solidFill>
                  <a:srgbClr val="008DDA"/>
                </a:solidFill>
              </a:rPr>
              <a:t>● </a:t>
            </a:r>
            <a:r>
              <a:rPr sz="1100" b="1">
                <a:solidFill>
                  <a:srgbClr val="0F172A"/>
                </a:solidFill>
                <a:latin typeface="Microsoft YaHei"/>
              </a:rPr>
              <a:t>坡度二次方重惩罚 (C_slope)：</a:t>
            </a:r>
            <a:r>
              <a:rPr sz="1050">
                <a:solidFill>
                  <a:srgbClr val="334155"/>
                </a:solidFill>
                <a:latin typeface="Microsoft YaHei"/>
              </a:rPr>
              <a:t>路面纵坡 &gt; 4.0% 施加指数级加权，驱使路径搜索自动趋向平缓环线。</a:t>
            </a:r>
          </a:p>
          <a:p>
            <a:pPr>
              <a:spcBef>
                <a:spcPts val="700"/>
              </a:spcBef>
            </a:pPr>
            <a:r>
              <a:rPr sz="1100" b="1">
                <a:solidFill>
                  <a:srgbClr val="008DDA"/>
                </a:solidFill>
              </a:rPr>
              <a:t>● </a:t>
            </a:r>
            <a:r>
              <a:rPr sz="1100" b="1">
                <a:solidFill>
                  <a:srgbClr val="0F172A"/>
                </a:solidFill>
                <a:latin typeface="Microsoft YaHei"/>
              </a:rPr>
              <a:t>气象湿滑惩罚 (C_weather)：</a:t>
            </a:r>
            <a:r>
              <a:rPr sz="1050">
                <a:solidFill>
                  <a:srgbClr val="334155"/>
                </a:solidFill>
                <a:latin typeface="Microsoft YaHei"/>
              </a:rPr>
              <a:t>雨后大理石路面施加3.0倍防滑惩罚，避免老人发生湿滑骨折。</a:t>
            </a:r>
          </a:p>
        </p:txBody>
      </p:sp>
      <p:sp>
        <p:nvSpPr>
          <p:cNvPr id="8" name="Rounded Rectangle 7"/>
          <p:cNvSpPr/>
          <p:nvPr/>
        </p:nvSpPr>
        <p:spPr>
          <a:xfrm>
            <a:off x="6217920" y="2926080"/>
            <a:ext cx="5212080" cy="3474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3063240"/>
            <a:ext cx="4846320" cy="320040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休憩长椅奖励 (B_amenity)：</a:t>
            </a:r>
            <a:r>
              <a:rPr sz="1050">
                <a:solidFill>
                  <a:srgbClr val="334155"/>
                </a:solidFill>
                <a:latin typeface="Microsoft YaHei"/>
              </a:rPr>
              <a:t>沿途市政长椅与防晒树荫赋予负惩罚 (奖励抵扣)，保障长辈每走200m均在长椅服务半径。</a:t>
            </a:r>
          </a:p>
          <a:p>
            <a:pPr>
              <a:spcBef>
                <a:spcPts val="700"/>
              </a:spcBef>
            </a:pPr>
            <a:r>
              <a:rPr sz="1100" b="1">
                <a:solidFill>
                  <a:srgbClr val="008DDA"/>
                </a:solidFill>
              </a:rPr>
              <a:t>● </a:t>
            </a:r>
            <a:r>
              <a:rPr sz="1100" b="1">
                <a:solidFill>
                  <a:srgbClr val="0F172A"/>
                </a:solidFill>
                <a:latin typeface="Microsoft YaHei"/>
              </a:rPr>
              <a:t>Pareto 多目标均衡解：</a:t>
            </a:r>
            <a:r>
              <a:rPr sz="1050">
                <a:solidFill>
                  <a:srgbClr val="334155"/>
                </a:solidFill>
                <a:latin typeface="Microsoft YaHei"/>
              </a:rPr>
              <a:t>在增加总物理步程不足8%的极小代价下，将地表平均受力坡度削减70%以上。</a:t>
            </a:r>
          </a:p>
          <a:p>
            <a:pPr>
              <a:spcBef>
                <a:spcPts val="700"/>
              </a:spcBef>
            </a:pPr>
            <a:r>
              <a:rPr sz="1100" b="1">
                <a:solidFill>
                  <a:srgbClr val="008DDA"/>
                </a:solidFill>
              </a:rPr>
              <a:t>● </a:t>
            </a:r>
            <a:r>
              <a:rPr sz="1100" b="1">
                <a:solidFill>
                  <a:srgbClr val="0F172A"/>
                </a:solidFill>
                <a:latin typeface="Microsoft YaHei"/>
              </a:rPr>
              <a:t>毫秒级求解收敛：</a:t>
            </a:r>
            <a:r>
              <a:rPr sz="1050">
                <a:solidFill>
                  <a:srgbClr val="334155"/>
                </a:solidFill>
                <a:latin typeface="Microsoft YaHei"/>
              </a:rPr>
              <a:t>针对典型公园路网平均算法求解耗时仅 38ms，远优于通用步行算路引擎。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北斗核心技术三：抗微动卡尔曼滤波与动态走廊球面投影</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08DDA"/>
                </a:solidFill>
                <a:latin typeface="Arial"/>
              </a:defRPr>
            </a:pPr>
            <a:r>
              <a:t>78.4% </a:t>
            </a:r>
            <a:r>
              <a:rPr sz="1300" b="1">
                <a:solidFill>
                  <a:srgbClr val="0F172A"/>
                </a:solidFill>
                <a:latin typeface="Microsoft YaHei"/>
              </a:rPr>
              <a:t>方差压降</a:t>
            </a:r>
          </a:p>
          <a:p>
            <a:pPr>
              <a:spcBef>
                <a:spcPts val="400"/>
              </a:spcBef>
              <a:defRPr sz="1050">
                <a:solidFill>
                  <a:srgbClr val="334155"/>
                </a:solidFill>
                <a:latin typeface="Microsoft YaHei"/>
              </a:defRPr>
            </a:pPr>
            <a:r>
              <a:t>抗微动滤波将密集林荫漂移方差从18.4降至0.38</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59669"/>
                </a:solidFill>
                <a:latin typeface="Arial"/>
              </a:defRPr>
            </a:pPr>
            <a:r>
              <a:t>&lt; 1.5% </a:t>
            </a:r>
            <a:r>
              <a:rPr sz="1300" b="1">
                <a:solidFill>
                  <a:srgbClr val="0F172A"/>
                </a:solidFill>
                <a:latin typeface="Microsoft YaHei"/>
              </a:rPr>
              <a:t>误偏航率</a:t>
            </a:r>
          </a:p>
          <a:p>
            <a:pPr>
              <a:spcBef>
                <a:spcPts val="400"/>
              </a:spcBef>
              <a:defRPr sz="1050">
                <a:solidFill>
                  <a:srgbClr val="334155"/>
                </a:solidFill>
                <a:latin typeface="Microsoft YaHei"/>
              </a:defRPr>
            </a:pPr>
            <a:r>
              <a:t>自适应速度协方差门槛，彻底消除驻足误报</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50-80 </a:t>
            </a:r>
            <a:r>
              <a:rPr sz="1300" b="1">
                <a:solidFill>
                  <a:srgbClr val="0F172A"/>
                </a:solidFill>
                <a:latin typeface="Microsoft YaHei"/>
              </a:rPr>
              <a:t>米走廊</a:t>
            </a:r>
          </a:p>
          <a:p>
            <a:pPr>
              <a:spcBef>
                <a:spcPts val="400"/>
              </a:spcBef>
              <a:defRPr sz="1050">
                <a:solidFill>
                  <a:srgbClr val="334155"/>
                </a:solidFill>
                <a:latin typeface="Microsoft YaHei"/>
              </a:defRPr>
            </a:pPr>
            <a:r>
              <a:t>基于高精度航迹中心线的动态自适应安全走廊</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老年人生理特征适配：</a:t>
            </a:r>
            <a:r>
              <a:rPr sz="1050">
                <a:solidFill>
                  <a:srgbClr val="334155"/>
                </a:solidFill>
                <a:latin typeface="Microsoft YaHei"/>
              </a:rPr>
              <a:t>老人步速慢 (0.6-0.8m/s) 且经常在路口驻足观望，传统算法易误判为偏航乱飘。</a:t>
            </a:r>
          </a:p>
          <a:p>
            <a:pPr>
              <a:spcBef>
                <a:spcPts val="700"/>
              </a:spcBef>
            </a:pPr>
            <a:r>
              <a:rPr sz="1100" b="1">
                <a:solidFill>
                  <a:srgbClr val="008DDA"/>
                </a:solidFill>
              </a:rPr>
              <a:t>● </a:t>
            </a:r>
            <a:r>
              <a:rPr sz="1100" b="1">
                <a:solidFill>
                  <a:srgbClr val="0F172A"/>
                </a:solidFill>
                <a:latin typeface="Microsoft YaHei"/>
              </a:rPr>
              <a:t>速度-协方差自适应门槛：</a:t>
            </a:r>
            <a:r>
              <a:rPr sz="1050">
                <a:solidFill>
                  <a:srgbClr val="334155"/>
                </a:solidFill>
                <a:latin typeface="Microsoft YaHei"/>
              </a:rPr>
              <a:t>当遥测速度 v &lt; 0.3m/s 时自动收紧增益 Kt，冻结微动噪声，防止界面航向无序乱转。</a:t>
            </a:r>
          </a:p>
          <a:p>
            <a:pPr>
              <a:spcBef>
                <a:spcPts val="700"/>
              </a:spcBef>
            </a:pPr>
            <a:r>
              <a:rPr sz="1100" b="1">
                <a:solidFill>
                  <a:srgbClr val="008DDA"/>
                </a:solidFill>
              </a:rPr>
              <a:t>● </a:t>
            </a:r>
            <a:r>
              <a:rPr sz="1100" b="1">
                <a:solidFill>
                  <a:srgbClr val="0F172A"/>
                </a:solidFill>
                <a:latin typeface="Microsoft YaHei"/>
              </a:rPr>
              <a:t>分段正射球面投影算子：</a:t>
            </a:r>
            <a:r>
              <a:rPr sz="1050">
                <a:solidFill>
                  <a:srgbClr val="334155"/>
                </a:solidFill>
                <a:latin typeface="Microsoft YaHei"/>
              </a:rPr>
              <a:t>快速求解实时定位点到折线段集合的最小距离 d⊥，连续2周期超阈值才判定偏航。</a:t>
            </a:r>
          </a:p>
          <a:p>
            <a:pPr>
              <a:spcBef>
                <a:spcPts val="700"/>
              </a:spcBef>
            </a:pPr>
            <a:r>
              <a:rPr sz="1100" b="1">
                <a:solidFill>
                  <a:srgbClr val="008DDA"/>
                </a:solidFill>
              </a:rPr>
              <a:t>● </a:t>
            </a:r>
            <a:r>
              <a:rPr sz="1100" b="1">
                <a:solidFill>
                  <a:srgbClr val="0F172A"/>
                </a:solidFill>
                <a:latin typeface="Microsoft YaHei"/>
              </a:rPr>
              <a:t>离群跳点最小二乘残差剔除：</a:t>
            </a:r>
            <a:r>
              <a:rPr sz="1050">
                <a:solidFill>
                  <a:srgbClr val="334155"/>
                </a:solidFill>
                <a:latin typeface="Microsoft YaHei"/>
              </a:rPr>
              <a:t>结合HDOP/VDOP因子与参与解算卫星数，毫秒级剔除多径粗差。</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【请在此插入：原始漂移轨迹 vs 北斗抗微动平滑滤波轨迹对比实测图】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智能体协同机制：5大领域智能体家族分工与全序事件总线</a:t>
            </a:r>
          </a:p>
        </p:txBody>
      </p:sp>
      <p:sp>
        <p:nvSpPr>
          <p:cNvPr id="4" name="Rounded Rectangle 3"/>
          <p:cNvSpPr/>
          <p:nvPr/>
        </p:nvSpPr>
        <p:spPr>
          <a:xfrm>
            <a:off x="731520" y="1371600"/>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5852160" cy="777240"/>
          </a:xfrm>
          <a:prstGeom prst="rect">
            <a:avLst/>
          </a:prstGeom>
          <a:noFill/>
        </p:spPr>
        <p:txBody>
          <a:bodyPr wrap="square">
            <a:spAutoFit/>
          </a:bodyPr>
          <a:lstStyle/>
          <a:p>
            <a:pPr>
              <a:defRPr sz="1100" b="1">
                <a:solidFill>
                  <a:srgbClr val="0B192C"/>
                </a:solidFill>
                <a:latin typeface="Microsoft YaHei"/>
              </a:defRPr>
            </a:pPr>
            <a:r>
              <a:t>MainAgent (主调度)</a:t>
            </a:r>
          </a:p>
          <a:p>
            <a:pPr>
              <a:spcBef>
                <a:spcPts val="200"/>
              </a:spcBef>
              <a:defRPr sz="950">
                <a:solidFill>
                  <a:srgbClr val="334155"/>
                </a:solidFill>
                <a:latin typeface="Microsoft YaHei"/>
              </a:defRPr>
            </a:pPr>
            <a:r>
              <a:t>用户意图分析 · 任务分解编排 · 并发调度驱动 · 响应聚合播报</a:t>
            </a:r>
          </a:p>
        </p:txBody>
      </p:sp>
      <p:sp>
        <p:nvSpPr>
          <p:cNvPr id="6" name="Rounded Rectangle 5"/>
          <p:cNvSpPr/>
          <p:nvPr/>
        </p:nvSpPr>
        <p:spPr>
          <a:xfrm>
            <a:off x="731520" y="2359152"/>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404872"/>
            <a:ext cx="5852160" cy="777240"/>
          </a:xfrm>
          <a:prstGeom prst="rect">
            <a:avLst/>
          </a:prstGeom>
          <a:noFill/>
        </p:spPr>
        <p:txBody>
          <a:bodyPr wrap="square">
            <a:spAutoFit/>
          </a:bodyPr>
          <a:lstStyle/>
          <a:p>
            <a:pPr>
              <a:defRPr sz="1100" b="1">
                <a:solidFill>
                  <a:srgbClr val="059669"/>
                </a:solidFill>
                <a:latin typeface="Microsoft YaHei"/>
              </a:defRPr>
            </a:pPr>
            <a:r>
              <a:t>HealthAgent (健康体能)</a:t>
            </a:r>
          </a:p>
          <a:p>
            <a:pPr>
              <a:spcBef>
                <a:spcPts val="200"/>
              </a:spcBef>
              <a:defRPr sz="950">
                <a:solidFill>
                  <a:srgbClr val="334155"/>
                </a:solidFill>
                <a:latin typeface="Microsoft YaHei"/>
              </a:defRPr>
            </a:pPr>
            <a:r>
              <a:t>慢病画像约束 · 步频上限动态测算 · 关节耐力评估 · 休息点配比</a:t>
            </a:r>
          </a:p>
        </p:txBody>
      </p:sp>
      <p:sp>
        <p:nvSpPr>
          <p:cNvPr id="8" name="Rounded Rectangle 7"/>
          <p:cNvSpPr/>
          <p:nvPr/>
        </p:nvSpPr>
        <p:spPr>
          <a:xfrm>
            <a:off x="731520" y="3346704"/>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92424"/>
            <a:ext cx="5852160" cy="777240"/>
          </a:xfrm>
          <a:prstGeom prst="rect">
            <a:avLst/>
          </a:prstGeom>
          <a:noFill/>
        </p:spPr>
        <p:txBody>
          <a:bodyPr wrap="square">
            <a:spAutoFit/>
          </a:bodyPr>
          <a:lstStyle/>
          <a:p>
            <a:pPr>
              <a:defRPr sz="1100" b="1">
                <a:solidFill>
                  <a:srgbClr val="008DDA"/>
                </a:solidFill>
                <a:latin typeface="Microsoft YaHei"/>
              </a:defRPr>
            </a:pPr>
            <a:r>
              <a:t>BdsNavAgent (北斗导航)</a:t>
            </a:r>
          </a:p>
          <a:p>
            <a:pPr>
              <a:spcBef>
                <a:spcPts val="200"/>
              </a:spcBef>
              <a:defRPr sz="950">
                <a:solidFill>
                  <a:srgbClr val="334155"/>
                </a:solidFill>
                <a:latin typeface="Microsoft YaHei"/>
              </a:defRPr>
            </a:pPr>
            <a:r>
              <a:t>亚米级微地形路网求解 · 100%避台阶 · 沿途长椅与无障碍坡道匹配</a:t>
            </a:r>
          </a:p>
        </p:txBody>
      </p:sp>
      <p:sp>
        <p:nvSpPr>
          <p:cNvPr id="10" name="Rounded Rectangle 9"/>
          <p:cNvSpPr/>
          <p:nvPr/>
        </p:nvSpPr>
        <p:spPr>
          <a:xfrm>
            <a:off x="731520" y="4334256"/>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79976"/>
            <a:ext cx="5852160" cy="777240"/>
          </a:xfrm>
          <a:prstGeom prst="rect">
            <a:avLst/>
          </a:prstGeom>
          <a:noFill/>
        </p:spPr>
        <p:txBody>
          <a:bodyPr wrap="square">
            <a:spAutoFit/>
          </a:bodyPr>
          <a:lstStyle/>
          <a:p>
            <a:pPr>
              <a:defRPr sz="1100" b="1">
                <a:solidFill>
                  <a:srgbClr val="D97706"/>
                </a:solidFill>
                <a:latin typeface="Microsoft YaHei"/>
              </a:defRPr>
            </a:pPr>
            <a:r>
              <a:t>WeatherAgent (气象感知)</a:t>
            </a:r>
          </a:p>
          <a:p>
            <a:pPr>
              <a:spcBef>
                <a:spcPts val="200"/>
              </a:spcBef>
              <a:defRPr sz="950">
                <a:solidFill>
                  <a:srgbClr val="334155"/>
                </a:solidFill>
                <a:latin typeface="Microsoft YaHei"/>
              </a:defRPr>
            </a:pPr>
            <a:r>
              <a:t>体感温差计算 · 骤雨路面湿滑预警 · 防晒林荫走廊引导 · 穿戴指引</a:t>
            </a:r>
          </a:p>
        </p:txBody>
      </p:sp>
      <p:sp>
        <p:nvSpPr>
          <p:cNvPr id="12" name="Rounded Rectangle 11"/>
          <p:cNvSpPr/>
          <p:nvPr/>
        </p:nvSpPr>
        <p:spPr>
          <a:xfrm>
            <a:off x="731520" y="5321808"/>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67528"/>
            <a:ext cx="5852160" cy="777240"/>
          </a:xfrm>
          <a:prstGeom prst="rect">
            <a:avLst/>
          </a:prstGeom>
          <a:noFill/>
        </p:spPr>
        <p:txBody>
          <a:bodyPr wrap="square">
            <a:spAutoFit/>
          </a:bodyPr>
          <a:lstStyle/>
          <a:p>
            <a:pPr>
              <a:defRPr sz="1100" b="1">
                <a:solidFill>
                  <a:srgbClr val="1A4D8C"/>
                </a:solidFill>
                <a:latin typeface="Microsoft YaHei"/>
              </a:defRPr>
            </a:pPr>
            <a:r>
              <a:t>GuardianAgent (安全守护)</a:t>
            </a:r>
          </a:p>
          <a:p>
            <a:pPr>
              <a:spcBef>
                <a:spcPts val="200"/>
              </a:spcBef>
              <a:defRPr sz="950">
                <a:solidFill>
                  <a:srgbClr val="334155"/>
                </a:solidFill>
                <a:latin typeface="Microsoft YaHei"/>
              </a:defRPr>
            </a:pPr>
            <a:r>
              <a:t>50-80m动态安全走廊 · 涉诈黑灰产拦截 · 异常滞留与急救绿通熔断</a:t>
            </a:r>
          </a:p>
        </p:txBody>
      </p:sp>
      <p:sp>
        <p:nvSpPr>
          <p:cNvPr id="14" name="Rounded Rectangle 13"/>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【请在此插入：5大智能体拓扑协同交互图 / 微内核全序事件总线架构图】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确定性交付：零幻觉《北斗适老出行护航方案书》渲染管线</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坚决杜绝大模型自由自由拼接：</a:t>
            </a:r>
            <a:r>
              <a:rPr sz="1050">
                <a:solidFill>
                  <a:srgbClr val="334155"/>
                </a:solidFill>
                <a:latin typeface="Microsoft YaHei"/>
              </a:rPr>
              <a:t>生命安全第一！大模型在方案组装阶段完全交由确定性模板建造师 (PlanBuilder) 接管。</a:t>
            </a:r>
          </a:p>
          <a:p>
            <a:pPr>
              <a:spcBef>
                <a:spcPts val="700"/>
              </a:spcBef>
            </a:pPr>
            <a:r>
              <a:rPr sz="1100" b="1">
                <a:solidFill>
                  <a:srgbClr val="008DDA"/>
                </a:solidFill>
              </a:rPr>
              <a:t>● </a:t>
            </a:r>
            <a:r>
              <a:rPr sz="1100" b="1">
                <a:solidFill>
                  <a:srgbClr val="0F172A"/>
                </a:solidFill>
                <a:latin typeface="Microsoft YaHei"/>
              </a:rPr>
              <a:t>第一联：慢病体能适配联：</a:t>
            </a:r>
            <a:r>
              <a:rPr sz="1050">
                <a:solidFill>
                  <a:srgbClr val="334155"/>
                </a:solidFill>
                <a:latin typeface="Microsoft YaHei"/>
              </a:rPr>
              <a:t>提取长辈慢病约束：适配骨关节炎，单次连续步行不超过600米。</a:t>
            </a:r>
          </a:p>
          <a:p>
            <a:pPr>
              <a:spcBef>
                <a:spcPts val="700"/>
              </a:spcBef>
            </a:pPr>
            <a:r>
              <a:rPr sz="1100" b="1">
                <a:solidFill>
                  <a:srgbClr val="008DDA"/>
                </a:solidFill>
              </a:rPr>
              <a:t>● </a:t>
            </a:r>
            <a:r>
              <a:rPr sz="1100" b="1">
                <a:solidFill>
                  <a:srgbClr val="0F172A"/>
                </a:solidFill>
                <a:latin typeface="Microsoft YaHei"/>
              </a:rPr>
              <a:t>第二联：北斗微地形平缓路线联：</a:t>
            </a:r>
            <a:r>
              <a:rPr sz="1050">
                <a:solidFill>
                  <a:srgbClr val="334155"/>
                </a:solidFill>
                <a:latin typeface="Microsoft YaHei"/>
              </a:rPr>
              <a:t>避开南门28级石阶，经无障碍绿道，沿途匹配4处休息长椅。</a:t>
            </a:r>
          </a:p>
          <a:p>
            <a:pPr>
              <a:spcBef>
                <a:spcPts val="700"/>
              </a:spcBef>
            </a:pPr>
            <a:r>
              <a:rPr sz="1100" b="1">
                <a:solidFill>
                  <a:srgbClr val="008DDA"/>
                </a:solidFill>
              </a:rPr>
              <a:t>● </a:t>
            </a:r>
            <a:r>
              <a:rPr sz="1100" b="1">
                <a:solidFill>
                  <a:srgbClr val="0F172A"/>
                </a:solidFill>
                <a:latin typeface="Microsoft YaHei"/>
              </a:rPr>
              <a:t>第三联：气象防跌穿戴指引联：</a:t>
            </a:r>
            <a:r>
              <a:rPr sz="1050">
                <a:solidFill>
                  <a:srgbClr val="334155"/>
                </a:solidFill>
                <a:latin typeface="Microsoft YaHei"/>
              </a:rPr>
              <a:t>路面轻微湿滑，建议穿防滑健步鞋，携带折叠雨伞。</a:t>
            </a:r>
          </a:p>
          <a:p>
            <a:pPr>
              <a:spcBef>
                <a:spcPts val="700"/>
              </a:spcBef>
            </a:pPr>
            <a:r>
              <a:rPr sz="1100" b="1">
                <a:solidFill>
                  <a:srgbClr val="008DDA"/>
                </a:solidFill>
              </a:rPr>
              <a:t>● </a:t>
            </a:r>
            <a:r>
              <a:rPr sz="1100" b="1">
                <a:solidFill>
                  <a:srgbClr val="0F172A"/>
                </a:solidFill>
                <a:latin typeface="Microsoft YaHei"/>
              </a:rPr>
              <a:t>第四联：子女守护与动态走廊联：</a:t>
            </a:r>
            <a:r>
              <a:rPr sz="1050">
                <a:solidFill>
                  <a:srgbClr val="334155"/>
                </a:solidFill>
                <a:latin typeface="Microsoft YaHei"/>
              </a:rPr>
              <a:t>向女儿端推送行程，激活50米北斗高精动态安全走廊。</a:t>
            </a:r>
          </a:p>
          <a:p>
            <a:pPr>
              <a:spcBef>
                <a:spcPts val="700"/>
              </a:spcBef>
            </a:pPr>
            <a:r>
              <a:rPr sz="1100" b="1">
                <a:solidFill>
                  <a:srgbClr val="008DDA"/>
                </a:solidFill>
              </a:rPr>
              <a:t>● </a:t>
            </a:r>
            <a:r>
              <a:rPr sz="1100" b="1">
                <a:solidFill>
                  <a:srgbClr val="0F172A"/>
                </a:solidFill>
                <a:latin typeface="Microsoft YaHei"/>
              </a:rPr>
              <a:t>第五联：三甲医院应急就医备用联：</a:t>
            </a:r>
            <a:r>
              <a:rPr sz="1050">
                <a:solidFill>
                  <a:srgbClr val="334155"/>
                </a:solidFill>
                <a:latin typeface="Microsoft YaHei"/>
              </a:rPr>
              <a:t>湘雅医院急诊科绿色通道就绪，支持一键直达。</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【请在此插入：系统生成的五联单《北斗适老出行护航方案书》真机卡片界面截图】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极致适老交互：去数字化设计哲学与实景地标引导</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120px 巨型适老麦克风：</a:t>
            </a:r>
            <a:r>
              <a:rPr sz="1050">
                <a:solidFill>
                  <a:srgbClr val="334155"/>
                </a:solidFill>
                <a:latin typeface="Microsoft YaHei"/>
              </a:rPr>
              <a:t>首页核心焦点，长按即说，松手即发，内嵌西南官话/湘方言自适应引擎，大白话直达。</a:t>
            </a:r>
          </a:p>
          <a:p>
            <a:pPr>
              <a:spcBef>
                <a:spcPts val="700"/>
              </a:spcBef>
            </a:pPr>
            <a:r>
              <a:rPr sz="1100" b="1">
                <a:solidFill>
                  <a:srgbClr val="008DDA"/>
                </a:solidFill>
              </a:rPr>
              <a:t>● </a:t>
            </a:r>
            <a:r>
              <a:rPr sz="1100" b="1">
                <a:solidFill>
                  <a:srgbClr val="0F172A"/>
                </a:solidFill>
                <a:latin typeface="Microsoft YaHei"/>
              </a:rPr>
              <a:t>WCAG 2.1 AAA 级工效学视界：</a:t>
            </a:r>
            <a:r>
              <a:rPr sz="1050">
                <a:solidFill>
                  <a:srgbClr val="334155"/>
                </a:solidFill>
                <a:latin typeface="Microsoft YaHei"/>
              </a:rPr>
              <a:t>文本与背景对比度 ≥ 9.2:1，最低字号 20px，主要触控按钮 ≥ 80px，彻底告别小字看屏。</a:t>
            </a:r>
          </a:p>
          <a:p>
            <a:pPr>
              <a:spcBef>
                <a:spcPts val="700"/>
              </a:spcBef>
            </a:pPr>
            <a:r>
              <a:rPr sz="1100" b="1">
                <a:solidFill>
                  <a:srgbClr val="008DDA"/>
                </a:solidFill>
              </a:rPr>
              <a:t>● </a:t>
            </a:r>
            <a:r>
              <a:rPr sz="1100" b="1">
                <a:solidFill>
                  <a:srgbClr val="0F172A"/>
                </a:solidFill>
                <a:latin typeface="Microsoft YaHei"/>
              </a:rPr>
              <a:t>空间生活化地标卡片引导：</a:t>
            </a:r>
            <a:r>
              <a:rPr sz="1050">
                <a:solidFill>
                  <a:srgbClr val="334155"/>
                </a:solidFill>
                <a:latin typeface="Microsoft YaHei"/>
              </a:rPr>
              <a:t>彻底摒弃“向西北走400米”，改为“过迎宾花坛向右转，顺着林荫平道走，避开左侧台阶”。</a:t>
            </a:r>
          </a:p>
          <a:p>
            <a:pPr>
              <a:spcBef>
                <a:spcPts val="700"/>
              </a:spcBef>
            </a:pPr>
            <a:r>
              <a:rPr sz="1100" b="1">
                <a:solidFill>
                  <a:srgbClr val="008DDA"/>
                </a:solidFill>
              </a:rPr>
              <a:t>● </a:t>
            </a:r>
            <a:r>
              <a:rPr sz="1100" b="1">
                <a:solidFill>
                  <a:srgbClr val="0F172A"/>
                </a:solidFill>
                <a:latin typeface="Microsoft YaHei"/>
              </a:rPr>
              <a:t>0.85倍速温和伴随式语音：</a:t>
            </a:r>
            <a:r>
              <a:rPr sz="1050">
                <a:solidFill>
                  <a:srgbClr val="334155"/>
                </a:solidFill>
                <a:latin typeface="Microsoft YaHei"/>
              </a:rPr>
              <a:t>字正腔圆，关键节点重点提示，卡片右上角常驻“再念一遍”按钮。</a:t>
            </a:r>
          </a:p>
          <a:p>
            <a:pPr>
              <a:spcBef>
                <a:spcPts val="700"/>
              </a:spcBef>
            </a:pPr>
            <a:r>
              <a:rPr sz="1100" b="1">
                <a:solidFill>
                  <a:srgbClr val="008DDA"/>
                </a:solidFill>
              </a:rPr>
              <a:t>● </a:t>
            </a:r>
            <a:r>
              <a:rPr sz="1100" b="1">
                <a:solidFill>
                  <a:srgbClr val="0F172A"/>
                </a:solidFill>
                <a:latin typeface="Microsoft YaHei"/>
              </a:rPr>
              <a:t>常驻北斗遥测卫星状态条：</a:t>
            </a:r>
            <a:r>
              <a:rPr sz="1050">
                <a:solidFill>
                  <a:srgbClr val="334155"/>
                </a:solidFill>
                <a:latin typeface="Microsoft YaHei"/>
              </a:rPr>
              <a:t>界面顶部醒目显示“🛰️ BDS 北斗已锁定 12 颗卫星 · 亚米级高精”，给长辈满满安全感。</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【请在此插入：老人端大麦克风首页 + 实景地标导航卡片真机操作截图】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纵深三层守护：北斗高精动态安全走廊与异常滞留预警</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第一层：500-1500m 常住生活圈围栏：</a:t>
            </a:r>
            <a:r>
              <a:rPr sz="1050">
                <a:solidFill>
                  <a:srgbClr val="334155"/>
                </a:solidFill>
                <a:latin typeface="Microsoft YaHei"/>
              </a:rPr>
              <a:t>长辈日常在小区内活动不产生打扰式告警；离开生活圈时子女端进入柔性“关注态”。</a:t>
            </a:r>
          </a:p>
          <a:p>
            <a:pPr>
              <a:spcBef>
                <a:spcPts val="700"/>
              </a:spcBef>
            </a:pPr>
            <a:r>
              <a:rPr sz="1100" b="1">
                <a:solidFill>
                  <a:srgbClr val="008DDA"/>
                </a:solidFill>
              </a:rPr>
              <a:t>● </a:t>
            </a:r>
            <a:r>
              <a:rPr sz="1100" b="1">
                <a:solidFill>
                  <a:srgbClr val="0F172A"/>
                </a:solidFill>
                <a:latin typeface="Microsoft YaHei"/>
              </a:rPr>
              <a:t>第二层：50-80m 航迹动态安全微走廊：</a:t>
            </a:r>
            <a:r>
              <a:rPr sz="1050">
                <a:solidFill>
                  <a:srgbClr val="334155"/>
                </a:solidFill>
                <a:latin typeface="Microsoft YaHei"/>
              </a:rPr>
              <a:t>沿规划步道构建动态缓冲区。一旦偏航连续2周期，向老人温和语音纠偏，子女端提示微偏航。</a:t>
            </a:r>
          </a:p>
          <a:p>
            <a:pPr>
              <a:spcBef>
                <a:spcPts val="700"/>
              </a:spcBef>
            </a:pPr>
            <a:r>
              <a:rPr sz="1100" b="1">
                <a:solidFill>
                  <a:srgbClr val="008DDA"/>
                </a:solidFill>
              </a:rPr>
              <a:t>● </a:t>
            </a:r>
            <a:r>
              <a:rPr sz="1100" b="1">
                <a:solidFill>
                  <a:srgbClr val="0F172A"/>
                </a:solidFill>
                <a:latin typeface="Microsoft YaHei"/>
              </a:rPr>
              <a:t>第三层：长椅智能甄别与异常滞留告警：</a:t>
            </a:r>
            <a:r>
              <a:rPr sz="1050">
                <a:solidFill>
                  <a:srgbClr val="334155"/>
                </a:solidFill>
                <a:latin typeface="Microsoft YaHei"/>
              </a:rPr>
              <a:t>长椅/凉亭静止识别为休整，自动抑制误报；若在偏僻无设施路段静止超15分钟，秒级触发高危预警。</a:t>
            </a:r>
          </a:p>
          <a:p>
            <a:pPr>
              <a:spcBef>
                <a:spcPts val="700"/>
              </a:spcBef>
            </a:pPr>
            <a:r>
              <a:rPr sz="1100" b="1">
                <a:solidFill>
                  <a:srgbClr val="008DDA"/>
                </a:solidFill>
              </a:rPr>
              <a:t>● </a:t>
            </a:r>
            <a:r>
              <a:rPr sz="1100" b="1">
                <a:solidFill>
                  <a:srgbClr val="0F172A"/>
                </a:solidFill>
                <a:latin typeface="Microsoft YaHei"/>
              </a:rPr>
              <a:t>一键报平安与双向亲情互动：</a:t>
            </a:r>
            <a:r>
              <a:rPr sz="1050">
                <a:solidFill>
                  <a:srgbClr val="334155"/>
                </a:solidFill>
                <a:latin typeface="Microsoft YaHei"/>
              </a:rPr>
              <a:t>长辈到达公园点击报平安，子女端即刻收到带有北斗精准时空签章的平安卡片。</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【请在此插入：子女端安全大屏 guardian.vue 电子围栏绘制与轨迹监控截图】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突发险情秒级防御：500毫秒级三甲医院急救绿通自愈重划</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D97706"/>
                </a:solidFill>
                <a:latin typeface="Arial"/>
              </a:defRPr>
            </a:pPr>
            <a:r>
              <a:t>500 </a:t>
            </a:r>
            <a:r>
              <a:rPr sz="1300" b="1">
                <a:solidFill>
                  <a:srgbClr val="0F172A"/>
                </a:solidFill>
                <a:latin typeface="Microsoft YaHei"/>
              </a:rPr>
              <a:t>ms</a:t>
            </a:r>
          </a:p>
          <a:p>
            <a:pPr>
              <a:spcBef>
                <a:spcPts val="400"/>
              </a:spcBef>
              <a:defRPr sz="1050">
                <a:solidFill>
                  <a:srgbClr val="334155"/>
                </a:solidFill>
                <a:latin typeface="Microsoft YaHei"/>
              </a:defRPr>
            </a:pPr>
            <a:r>
              <a:t>急症呼救到急诊绿通重划生成端到端时延</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59669"/>
                </a:solidFill>
                <a:latin typeface="Arial"/>
              </a:defRPr>
            </a:pPr>
            <a:r>
              <a:t>100% </a:t>
            </a:r>
            <a:r>
              <a:rPr sz="1300" b="1">
                <a:solidFill>
                  <a:srgbClr val="0F172A"/>
                </a:solidFill>
                <a:latin typeface="Microsoft YaHei"/>
              </a:rPr>
              <a:t>三甲资质</a:t>
            </a:r>
          </a:p>
          <a:p>
            <a:pPr>
              <a:spcBef>
                <a:spcPts val="400"/>
              </a:spcBef>
              <a:defRPr sz="1050">
                <a:solidFill>
                  <a:srgbClr val="334155"/>
                </a:solidFill>
                <a:latin typeface="Microsoft YaHei"/>
              </a:defRPr>
            </a:pPr>
            <a:r>
              <a:t>自动锁定就近具备胸痛/创伤中心资质的三甲医院</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008DDA"/>
                </a:solidFill>
                <a:latin typeface="Arial"/>
              </a:defRPr>
            </a:pPr>
            <a:r>
              <a:t>双端 </a:t>
            </a:r>
            <a:r>
              <a:rPr sz="1300" b="1">
                <a:solidFill>
                  <a:srgbClr val="0F172A"/>
                </a:solidFill>
                <a:latin typeface="Microsoft YaHei"/>
              </a:rPr>
              <a:t>秒级联动</a:t>
            </a:r>
          </a:p>
          <a:p>
            <a:pPr>
              <a:spcBef>
                <a:spcPts val="400"/>
              </a:spcBef>
              <a:defRPr sz="1050">
                <a:solidFill>
                  <a:srgbClr val="334155"/>
                </a:solidFill>
                <a:latin typeface="Microsoft YaHei"/>
              </a:defRPr>
            </a:pPr>
            <a:r>
              <a:t>长辈端一键120，子女端同步弹窗急救接应大屏</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极端险情毫秒捕捉：</a:t>
            </a:r>
            <a:r>
              <a:rPr sz="1050">
                <a:solidFill>
                  <a:srgbClr val="334155"/>
                </a:solidFill>
                <a:latin typeface="Microsoft YaHei"/>
              </a:rPr>
              <a:t>长辈散步途中突发胸闷、气喘或摔倒，语音呼救“胸口闷”，系统瞬间中断原游览路线。</a:t>
            </a:r>
          </a:p>
          <a:p>
            <a:pPr>
              <a:spcBef>
                <a:spcPts val="700"/>
              </a:spcBef>
            </a:pPr>
            <a:r>
              <a:rPr sz="1100" b="1">
                <a:solidFill>
                  <a:srgbClr val="008DDA"/>
                </a:solidFill>
              </a:rPr>
              <a:t>● </a:t>
            </a:r>
            <a:r>
              <a:rPr sz="1100" b="1">
                <a:solidFill>
                  <a:srgbClr val="0F172A"/>
                </a:solidFill>
                <a:latin typeface="Microsoft YaHei"/>
              </a:rPr>
              <a:t>北斗高精位置锁定：</a:t>
            </a:r>
            <a:r>
              <a:rPr sz="1050">
                <a:solidFill>
                  <a:srgbClr val="334155"/>
                </a:solidFill>
                <a:latin typeface="Microsoft YaHei"/>
              </a:rPr>
              <a:t>瞬间捕获北斗亚米级经纬度，精准逆地理编码出“东风路与营盘路交叉口西南角20米”。</a:t>
            </a:r>
          </a:p>
          <a:p>
            <a:pPr>
              <a:spcBef>
                <a:spcPts val="700"/>
              </a:spcBef>
            </a:pPr>
            <a:r>
              <a:rPr sz="1100" b="1">
                <a:solidFill>
                  <a:srgbClr val="008DDA"/>
                </a:solidFill>
              </a:rPr>
              <a:t>● </a:t>
            </a:r>
            <a:r>
              <a:rPr sz="1100" b="1">
                <a:solidFill>
                  <a:srgbClr val="0F172A"/>
                </a:solidFill>
                <a:latin typeface="Microsoft YaHei"/>
              </a:rPr>
              <a:t>极速生成送诊无障碍路线：</a:t>
            </a:r>
            <a:r>
              <a:rPr sz="1050">
                <a:solidFill>
                  <a:srgbClr val="334155"/>
                </a:solidFill>
                <a:latin typeface="Microsoft YaHei"/>
              </a:rPr>
              <a:t>避开施工路段，毫秒级规划直达中南大学湘雅医院或省人民医院急诊中心的最平缓绿道。</a:t>
            </a:r>
          </a:p>
          <a:p>
            <a:pPr>
              <a:spcBef>
                <a:spcPts val="700"/>
              </a:spcBef>
            </a:pPr>
            <a:r>
              <a:rPr sz="1100" b="1">
                <a:solidFill>
                  <a:srgbClr val="008DDA"/>
                </a:solidFill>
              </a:rPr>
              <a:t>● </a:t>
            </a:r>
            <a:r>
              <a:rPr sz="1100" b="1">
                <a:solidFill>
                  <a:srgbClr val="0F172A"/>
                </a:solidFill>
                <a:latin typeface="Microsoft YaHei"/>
              </a:rPr>
              <a:t>一键120大键与位置宣读：</a:t>
            </a:r>
            <a:r>
              <a:rPr sz="1050">
                <a:solidFill>
                  <a:srgbClr val="334155"/>
                </a:solidFill>
                <a:latin typeface="Microsoft YaHei"/>
              </a:rPr>
              <a:t>屏幕全屏弹出红色巨型呼叫键，并以慢速清晰语音引导老人宣读当前确切位置。</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【请在此插入：突发急症一键重划三甲医院急诊绿通真机截图】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伦理与尊严守护：R6级亲情数据脱敏与反向透明审计</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拒绝冷酷监视，守护长辈尊严：</a:t>
            </a:r>
            <a:r>
              <a:rPr sz="1050">
                <a:solidFill>
                  <a:srgbClr val="334155"/>
                </a:solidFill>
                <a:latin typeface="Microsoft YaHei"/>
              </a:rPr>
              <a:t>传统定位软件将老人置于“被监视”客体，易引发家庭猜忌；本项目首创R6级数据脱敏变形机制。</a:t>
            </a:r>
          </a:p>
          <a:p>
            <a:pPr>
              <a:spcBef>
                <a:spcPts val="700"/>
              </a:spcBef>
            </a:pPr>
            <a:r>
              <a:rPr sz="1100" b="1">
                <a:solidFill>
                  <a:srgbClr val="008DDA"/>
                </a:solidFill>
              </a:rPr>
              <a:t>● </a:t>
            </a:r>
            <a:r>
              <a:rPr sz="1100" b="1">
                <a:solidFill>
                  <a:srgbClr val="0F172A"/>
                </a:solidFill>
                <a:latin typeface="Microsoft YaHei"/>
              </a:rPr>
              <a:t>长辈拥有最高自主开放档位：</a:t>
            </a:r>
            <a:r>
              <a:rPr sz="1050">
                <a:solidFill>
                  <a:srgbClr val="334155"/>
                </a:solidFill>
                <a:latin typeface="Microsoft YaHei"/>
              </a:rPr>
              <a:t>实时精细 (realtime) / 城市区级粗化 (city，隐藏精确经纬度) / 完全隐蔽 (off)。</a:t>
            </a:r>
          </a:p>
          <a:p>
            <a:pPr>
              <a:spcBef>
                <a:spcPts val="700"/>
              </a:spcBef>
            </a:pPr>
            <a:r>
              <a:rPr sz="1100" b="1">
                <a:solidFill>
                  <a:srgbClr val="008DDA"/>
                </a:solidFill>
              </a:rPr>
              <a:t>● </a:t>
            </a:r>
            <a:r>
              <a:rPr sz="1100" b="1">
                <a:solidFill>
                  <a:srgbClr val="0F172A"/>
                </a:solidFill>
                <a:latin typeface="Microsoft YaHei"/>
              </a:rPr>
              <a:t>安全底线绝不击穿：</a:t>
            </a:r>
            <a:r>
              <a:rPr sz="1050">
                <a:solidFill>
                  <a:srgbClr val="334155"/>
                </a:solidFill>
                <a:latin typeface="Microsoft YaHei"/>
              </a:rPr>
              <a:t>在粗化或关闭模式下，一旦触发异常滞留或急救事件，系统自动向子女推送风险提示，兼顾隐私与安全。</a:t>
            </a:r>
          </a:p>
          <a:p>
            <a:pPr>
              <a:spcBef>
                <a:spcPts val="700"/>
              </a:spcBef>
            </a:pPr>
            <a:r>
              <a:rPr sz="1100" b="1">
                <a:solidFill>
                  <a:srgbClr val="008DDA"/>
                </a:solidFill>
              </a:rPr>
              <a:t>● </a:t>
            </a:r>
            <a:r>
              <a:rPr sz="1100" b="1">
                <a:solidFill>
                  <a:srgbClr val="0F172A"/>
                </a:solidFill>
                <a:latin typeface="Microsoft YaHei"/>
              </a:rPr>
              <a:t>服务端纯函数脱敏变形：</a:t>
            </a:r>
            <a:r>
              <a:rPr sz="1050">
                <a:solidFill>
                  <a:srgbClr val="334155"/>
                </a:solidFill>
                <a:latin typeface="Microsoft YaHei"/>
              </a:rPr>
              <a:t>数据变形在服务端由纯函数处理，前端不产生403权限报错，维护两代和谐。</a:t>
            </a:r>
          </a:p>
          <a:p>
            <a:pPr>
              <a:spcBef>
                <a:spcPts val="700"/>
              </a:spcBef>
            </a:pPr>
            <a:r>
              <a:rPr sz="1100" b="1">
                <a:solidFill>
                  <a:srgbClr val="008DDA"/>
                </a:solidFill>
              </a:rPr>
              <a:t>● </a:t>
            </a:r>
            <a:r>
              <a:rPr sz="1100" b="1">
                <a:solidFill>
                  <a:srgbClr val="0F172A"/>
                </a:solidFill>
                <a:latin typeface="Microsoft YaHei"/>
              </a:rPr>
              <a:t>反向透明审计账本 (audit_log)：</a:t>
            </a:r>
            <a:r>
              <a:rPr sz="1050">
                <a:solidFill>
                  <a:srgbClr val="334155"/>
                </a:solidFill>
                <a:latin typeface="Microsoft YaHei"/>
              </a:rPr>
              <a:t>长辈端可清晰查阅“女儿于10:15查看了我的位置”，保障老年人知情权平权。</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【请在此插入：R6数据脱敏设置与反向审计账本真机截图】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严苛工程检验：146项全绿自动化测试与性能指标</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59669"/>
                </a:solidFill>
                <a:latin typeface="Arial"/>
              </a:defRPr>
            </a:pPr>
            <a:r>
              <a:t>146 </a:t>
            </a:r>
            <a:r>
              <a:rPr sz="1300" b="1">
                <a:solidFill>
                  <a:srgbClr val="0F172A"/>
                </a:solidFill>
                <a:latin typeface="Microsoft YaHei"/>
              </a:rPr>
              <a:t>项测试</a:t>
            </a:r>
          </a:p>
          <a:p>
            <a:pPr>
              <a:spcBef>
                <a:spcPts val="400"/>
              </a:spcBef>
              <a:defRPr sz="1050">
                <a:solidFill>
                  <a:srgbClr val="334155"/>
                </a:solidFill>
                <a:latin typeface="Microsoft YaHei"/>
              </a:defRPr>
            </a:pPr>
            <a:r>
              <a:t>全覆盖自动化测试套件 100% 通过 (12.35s)</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08DDA"/>
                </a:solidFill>
                <a:latin typeface="Arial"/>
              </a:defRPr>
            </a:pPr>
            <a:r>
              <a:t>&lt; 200 </a:t>
            </a:r>
            <a:r>
              <a:rPr sz="1300" b="1">
                <a:solidFill>
                  <a:srgbClr val="0F172A"/>
                </a:solidFill>
                <a:latin typeface="Microsoft YaHei"/>
              </a:rPr>
              <a:t>ms</a:t>
            </a:r>
          </a:p>
          <a:p>
            <a:pPr>
              <a:spcBef>
                <a:spcPts val="400"/>
              </a:spcBef>
              <a:defRPr sz="1050">
                <a:solidFill>
                  <a:srgbClr val="334155"/>
                </a:solidFill>
                <a:latin typeface="Microsoft YaHei"/>
              </a:defRPr>
            </a:pPr>
            <a:r>
              <a:t>核心北斗与适老微地形API接口平均响应时延</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1.2 </a:t>
            </a:r>
            <a:r>
              <a:rPr sz="1300" b="1">
                <a:solidFill>
                  <a:srgbClr val="0F172A"/>
                </a:solidFill>
                <a:latin typeface="Microsoft YaHei"/>
              </a:rPr>
              <a:t>秒</a:t>
            </a:r>
          </a:p>
          <a:p>
            <a:pPr>
              <a:spcBef>
                <a:spcPts val="400"/>
              </a:spcBef>
              <a:defRPr sz="1050">
                <a:solidFill>
                  <a:srgbClr val="334155"/>
                </a:solidFill>
                <a:latin typeface="Microsoft YaHei"/>
              </a:defRPr>
            </a:pPr>
            <a:r>
              <a:t>5大Agent并发端到端推理与方案装配全耗时</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极限对抗性测试验证：</a:t>
            </a:r>
            <a:r>
              <a:rPr sz="1050">
                <a:solidFill>
                  <a:srgbClr val="334155"/>
                </a:solidFill>
                <a:latin typeface="Microsoft YaHei"/>
              </a:rPr>
              <a:t>覆盖12项高斯坐标极限漂移、复杂凹多边形电子围栏穿透碰撞、弱网丢包自愈用例。</a:t>
            </a:r>
          </a:p>
          <a:p>
            <a:pPr>
              <a:spcBef>
                <a:spcPts val="700"/>
              </a:spcBef>
            </a:pPr>
            <a:r>
              <a:rPr sz="1100" b="1">
                <a:solidFill>
                  <a:srgbClr val="008DDA"/>
                </a:solidFill>
              </a:rPr>
              <a:t>● </a:t>
            </a:r>
            <a:r>
              <a:rPr sz="1100" b="1">
                <a:solidFill>
                  <a:srgbClr val="0F172A"/>
                </a:solidFill>
                <a:latin typeface="Microsoft YaHei"/>
              </a:rPr>
              <a:t>多Agent并发死锁防护：</a:t>
            </a:r>
            <a:r>
              <a:rPr sz="1050">
                <a:solidFill>
                  <a:srgbClr val="334155"/>
                </a:solidFill>
                <a:latin typeface="Microsoft YaHei"/>
              </a:rPr>
              <a:t>微内核全序事件契约，高并发压力下零死锁、零竞态、单轮闭环率 100%。</a:t>
            </a:r>
          </a:p>
          <a:p>
            <a:pPr>
              <a:spcBef>
                <a:spcPts val="700"/>
              </a:spcBef>
            </a:pPr>
            <a:r>
              <a:rPr sz="1100" b="1">
                <a:solidFill>
                  <a:srgbClr val="008DDA"/>
                </a:solidFill>
              </a:rPr>
              <a:t>● </a:t>
            </a:r>
            <a:r>
              <a:rPr sz="1100" b="1">
                <a:solidFill>
                  <a:srgbClr val="0F172A"/>
                </a:solidFill>
                <a:latin typeface="Microsoft YaHei"/>
              </a:rPr>
              <a:t>急救熔断与故障隔离：</a:t>
            </a:r>
            <a:r>
              <a:rPr sz="1050">
                <a:solidFill>
                  <a:srgbClr val="334155"/>
                </a:solidFill>
                <a:latin typeface="Microsoft YaHei"/>
              </a:rPr>
              <a:t>模拟气象接口断网或大模型波动，系统毫秒级降级为本地离线微地形规则，保障导航不掉线。</a:t>
            </a:r>
          </a:p>
          <a:p>
            <a:pPr>
              <a:spcBef>
                <a:spcPts val="700"/>
              </a:spcBef>
            </a:pPr>
            <a:r>
              <a:rPr sz="1100" b="1">
                <a:solidFill>
                  <a:srgbClr val="008DDA"/>
                </a:solidFill>
              </a:rPr>
              <a:t>● </a:t>
            </a:r>
            <a:r>
              <a:rPr sz="1100" b="1">
                <a:solidFill>
                  <a:srgbClr val="0F172A"/>
                </a:solidFill>
                <a:latin typeface="Microsoft YaHei"/>
              </a:rPr>
              <a:t>国家级大赛严谨底座：</a:t>
            </a:r>
            <a:r>
              <a:rPr sz="1050">
                <a:solidFill>
                  <a:srgbClr val="334155"/>
                </a:solidFill>
                <a:latin typeface="Microsoft YaHei"/>
              </a:rPr>
              <a:t>完备的测试驱动工程实践，具备冲击国家级一等奖的软件工业级品质。</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【请在此插入：Pytest 终端 146 项测试全绿通过截图 / 性能压测曲线图】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真实长辈实测：SUS适老化工效学评估与指标跃升</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59669"/>
                </a:solidFill>
                <a:latin typeface="Arial"/>
              </a:defRPr>
            </a:pPr>
            <a:r>
              <a:t>93.8% </a:t>
            </a:r>
            <a:r>
              <a:rPr sz="1300" b="1">
                <a:solidFill>
                  <a:srgbClr val="0F172A"/>
                </a:solidFill>
                <a:latin typeface="Microsoft YaHei"/>
              </a:rPr>
              <a:t>独立发起率</a:t>
            </a:r>
          </a:p>
          <a:p>
            <a:pPr>
              <a:spcBef>
                <a:spcPts val="400"/>
              </a:spcBef>
              <a:defRPr sz="1050">
                <a:solidFill>
                  <a:srgbClr val="334155"/>
                </a:solidFill>
                <a:latin typeface="Microsoft YaHei"/>
              </a:defRPr>
            </a:pPr>
            <a:r>
              <a:t>传统商业地图仅23.5%，实操成功率提升299%</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08DDA"/>
                </a:solidFill>
                <a:latin typeface="Arial"/>
              </a:defRPr>
            </a:pPr>
            <a:r>
              <a:t>16 </a:t>
            </a:r>
            <a:r>
              <a:rPr sz="1300" b="1">
                <a:solidFill>
                  <a:srgbClr val="0F172A"/>
                </a:solidFill>
                <a:latin typeface="Microsoft YaHei"/>
              </a:rPr>
              <a:t>秒完成</a:t>
            </a:r>
          </a:p>
          <a:p>
            <a:pPr>
              <a:spcBef>
                <a:spcPts val="400"/>
              </a:spcBef>
              <a:defRPr sz="1050">
                <a:solidFill>
                  <a:srgbClr val="334155"/>
                </a:solidFill>
                <a:latin typeface="Microsoft YaHei"/>
              </a:defRPr>
            </a:pPr>
            <a:r>
              <a:t>传统地图平均需148秒搜索比对，操作耗时缩减89%</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88.5 </a:t>
            </a:r>
            <a:r>
              <a:rPr sz="1300" b="1">
                <a:solidFill>
                  <a:srgbClr val="0F172A"/>
                </a:solidFill>
                <a:latin typeface="Microsoft YaHei"/>
              </a:rPr>
              <a:t>分 (优)</a:t>
            </a:r>
          </a:p>
          <a:p>
            <a:pPr>
              <a:spcBef>
                <a:spcPts val="400"/>
              </a:spcBef>
              <a:defRPr sz="1050">
                <a:solidFill>
                  <a:srgbClr val="334155"/>
                </a:solidFill>
                <a:latin typeface="Microsoft YaHei"/>
              </a:defRPr>
            </a:pPr>
            <a:r>
              <a:t>国际标准SUS系统可用性量表评分(传统地图仅36.5分)</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30位老年受试者双盲对照：</a:t>
            </a:r>
            <a:r>
              <a:rPr sz="1050">
                <a:solidFill>
                  <a:srgbClr val="334155"/>
                </a:solidFill>
                <a:latin typeface="Microsoft YaHei"/>
              </a:rPr>
              <a:t>邀请30位65岁以上长辈，针对日常散步与就医场景开展两组双盲人机对照实验。</a:t>
            </a:r>
          </a:p>
          <a:p>
            <a:pPr>
              <a:spcBef>
                <a:spcPts val="700"/>
              </a:spcBef>
            </a:pPr>
            <a:r>
              <a:rPr sz="1100" b="1">
                <a:solidFill>
                  <a:srgbClr val="008DDA"/>
                </a:solidFill>
              </a:rPr>
              <a:t>● </a:t>
            </a:r>
            <a:r>
              <a:rPr sz="1100" b="1">
                <a:solidFill>
                  <a:srgbClr val="0F172A"/>
                </a:solidFill>
                <a:latin typeface="Microsoft YaHei"/>
              </a:rPr>
              <a:t>迷路与转错弯发生率骤降：</a:t>
            </a:r>
            <a:r>
              <a:rPr sz="1050">
                <a:solidFill>
                  <a:srgbClr val="334155"/>
                </a:solidFill>
                <a:latin typeface="Microsoft YaHei"/>
              </a:rPr>
              <a:t>得益于具象地标卡片与伴随式语音，途中错转迷路发生率由 38.0% 降至 3.2%。</a:t>
            </a:r>
          </a:p>
          <a:p>
            <a:pPr>
              <a:spcBef>
                <a:spcPts val="700"/>
              </a:spcBef>
            </a:pPr>
            <a:r>
              <a:rPr sz="1100" b="1">
                <a:solidFill>
                  <a:srgbClr val="008DDA"/>
                </a:solidFill>
              </a:rPr>
              <a:t>● </a:t>
            </a:r>
            <a:r>
              <a:rPr sz="1100" b="1">
                <a:solidFill>
                  <a:srgbClr val="0F172A"/>
                </a:solidFill>
                <a:latin typeface="Microsoft YaHei"/>
              </a:rPr>
              <a:t>认知疲劳感根本性改善：</a:t>
            </a:r>
            <a:r>
              <a:rPr sz="1050">
                <a:solidFill>
                  <a:srgbClr val="334155"/>
                </a:solidFill>
                <a:latin typeface="Microsoft YaHei"/>
              </a:rPr>
              <a:t>受试长辈反馈“原来出门像考试，现在说一句话就行，心里特别踏实”。</a:t>
            </a:r>
          </a:p>
          <a:p>
            <a:pPr>
              <a:spcBef>
                <a:spcPts val="700"/>
              </a:spcBef>
            </a:pPr>
            <a:r>
              <a:rPr sz="1100" b="1">
                <a:solidFill>
                  <a:srgbClr val="008DDA"/>
                </a:solidFill>
              </a:rPr>
              <a:t>● </a:t>
            </a:r>
            <a:r>
              <a:rPr sz="1100" b="1">
                <a:solidFill>
                  <a:srgbClr val="0F172A"/>
                </a:solidFill>
                <a:latin typeface="Microsoft YaHei"/>
              </a:rPr>
              <a:t>两代家庭满意度双赢：</a:t>
            </a:r>
            <a:r>
              <a:rPr sz="1050">
                <a:solidFill>
                  <a:srgbClr val="334155"/>
                </a:solidFill>
                <a:latin typeface="Microsoft YaHei"/>
              </a:rPr>
              <a:t>参与测试的异地子女好评率 96.7%，切实消解了空巢监护深层焦虑。</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【请在此插入：老年人实测现场照片 / SUS评估量表多维度雷达对比图】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科技创意拓展：软硬一体“北斗助老拐杖”与短报文极限自救</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低成本北斗智能助行拐杖：</a:t>
            </a:r>
            <a:r>
              <a:rPr sz="1050">
                <a:solidFill>
                  <a:srgbClr val="334155"/>
                </a:solidFill>
                <a:latin typeface="Microsoft YaHei"/>
              </a:rPr>
              <a:t>嵌入国产北斗三号双频芯片+六轴IMU传感器，杖柄集成触觉震动马达，成本控制在50-80元。</a:t>
            </a:r>
          </a:p>
          <a:p>
            <a:pPr>
              <a:spcBef>
                <a:spcPts val="700"/>
              </a:spcBef>
            </a:pPr>
            <a:r>
              <a:rPr sz="1100" b="1">
                <a:solidFill>
                  <a:srgbClr val="008DDA"/>
                </a:solidFill>
              </a:rPr>
              <a:t>● </a:t>
            </a:r>
            <a:r>
              <a:rPr sz="1100" b="1">
                <a:solidFill>
                  <a:srgbClr val="0F172A"/>
                </a:solidFill>
                <a:latin typeface="Microsoft YaHei"/>
              </a:rPr>
              <a:t>触觉反馈“盲视级”隐形导航：</a:t>
            </a:r>
            <a:r>
              <a:rPr sz="1050">
                <a:solidFill>
                  <a:srgbClr val="334155"/>
                </a:solidFill>
                <a:latin typeface="Microsoft YaHei"/>
              </a:rPr>
              <a:t>长辈无需低头看手机：左拐手柄轻震，前方有险坡台阶急促震动，彻底根除低头摔跤风险。</a:t>
            </a:r>
          </a:p>
          <a:p>
            <a:pPr>
              <a:spcBef>
                <a:spcPts val="700"/>
              </a:spcBef>
            </a:pPr>
            <a:r>
              <a:rPr sz="1100" b="1">
                <a:solidFill>
                  <a:srgbClr val="008DDA"/>
                </a:solidFill>
              </a:rPr>
              <a:t>● </a:t>
            </a:r>
            <a:r>
              <a:rPr sz="1100" b="1">
                <a:solidFill>
                  <a:srgbClr val="0F172A"/>
                </a:solidFill>
                <a:latin typeface="Microsoft YaHei"/>
              </a:rPr>
              <a:t>跌倒毫秒撞击感知与PDR惯导：</a:t>
            </a:r>
            <a:r>
              <a:rPr sz="1050">
                <a:solidFill>
                  <a:srgbClr val="334155"/>
                </a:solidFill>
                <a:latin typeface="Microsoft YaHei"/>
              </a:rPr>
              <a:t>跌倒撞击瞬间自动触发SOS；室内商场/地下通道无北斗信号时自动切换行人航位推算(PDR)。</a:t>
            </a:r>
          </a:p>
          <a:p>
            <a:pPr>
              <a:spcBef>
                <a:spcPts val="700"/>
              </a:spcBef>
            </a:pPr>
            <a:r>
              <a:rPr sz="1100" b="1">
                <a:solidFill>
                  <a:srgbClr val="008DDA"/>
                </a:solidFill>
              </a:rPr>
              <a:t>● </a:t>
            </a:r>
            <a:r>
              <a:rPr sz="1100" b="1">
                <a:solidFill>
                  <a:srgbClr val="0F172A"/>
                </a:solidFill>
                <a:latin typeface="Microsoft YaHei"/>
              </a:rPr>
              <a:t>北斗三号短报文 (RDSS) 极限自救：</a:t>
            </a:r>
            <a:r>
              <a:rPr sz="1050">
                <a:solidFill>
                  <a:srgbClr val="334155"/>
                </a:solidFill>
                <a:latin typeface="Microsoft YaHei"/>
              </a:rPr>
              <a:t>在郊野偏僻山林无手机4G信号盲区，通过北斗短报文信道将40字节急救电文直发GEO卫星！</a:t>
            </a:r>
          </a:p>
          <a:p>
            <a:pPr>
              <a:spcBef>
                <a:spcPts val="700"/>
              </a:spcBef>
            </a:pPr>
            <a:r>
              <a:rPr sz="1100" b="1">
                <a:solidFill>
                  <a:srgbClr val="008DDA"/>
                </a:solidFill>
              </a:rPr>
              <a:t>● </a:t>
            </a:r>
            <a:r>
              <a:rPr sz="1100" b="1">
                <a:solidFill>
                  <a:srgbClr val="0F172A"/>
                </a:solidFill>
                <a:latin typeface="Microsoft YaHei"/>
              </a:rPr>
              <a:t>微地理生活地标知识库：</a:t>
            </a:r>
            <a:r>
              <a:rPr sz="1050">
                <a:solidFill>
                  <a:srgbClr val="334155"/>
                </a:solidFill>
                <a:latin typeface="Microsoft YaHei"/>
              </a:rPr>
              <a:t>对台阶数、坡度、长椅、公厕无障碍坡度结构化打标，打造湖南适老微地理标准。</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【请在此插入：北斗助老智能拐杖硬件架构概念图 / 北斗三号短报文通信链路图】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本地示范样板：长沙烈士公园、岳麓山与湘雅医院高精应用</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样板一：长沙烈士公园休闲散步示范：</a:t>
            </a:r>
            <a:r>
              <a:rPr sz="1050">
                <a:solidFill>
                  <a:srgbClr val="334155"/>
                </a:solidFill>
                <a:latin typeface="Microsoft YaHei"/>
              </a:rPr>
              <a:t>避开南门/东门40米长陡台阶与过街天桥，优选年嘉湖西侧平缓绿道，沿途精准匹配4处长椅。</a:t>
            </a:r>
          </a:p>
          <a:p>
            <a:pPr>
              <a:spcBef>
                <a:spcPts val="700"/>
              </a:spcBef>
            </a:pPr>
            <a:r>
              <a:rPr sz="1100" b="1">
                <a:solidFill>
                  <a:srgbClr val="008DDA"/>
                </a:solidFill>
              </a:rPr>
              <a:t>● </a:t>
            </a:r>
            <a:r>
              <a:rPr sz="1100" b="1">
                <a:solidFill>
                  <a:srgbClr val="0F172A"/>
                </a:solidFill>
                <a:latin typeface="Microsoft YaHei"/>
              </a:rPr>
              <a:t>样板二：中南大学湘雅医院无障碍就医示范：</a:t>
            </a:r>
            <a:r>
              <a:rPr sz="1050">
                <a:solidFill>
                  <a:srgbClr val="334155"/>
                </a:solidFill>
                <a:latin typeface="Microsoft YaHei"/>
              </a:rPr>
              <a:t>避开湘雅路人行地下通道陡阶，指引地面无障碍直梯连廊，门诊大厅电梯厅无缝直达。</a:t>
            </a:r>
          </a:p>
          <a:p>
            <a:pPr>
              <a:spcBef>
                <a:spcPts val="700"/>
              </a:spcBef>
            </a:pPr>
            <a:r>
              <a:rPr sz="1100" b="1">
                <a:solidFill>
                  <a:srgbClr val="008DDA"/>
                </a:solidFill>
              </a:rPr>
              <a:t>● </a:t>
            </a:r>
            <a:r>
              <a:rPr sz="1100" b="1">
                <a:solidFill>
                  <a:srgbClr val="0F172A"/>
                </a:solidFill>
                <a:latin typeface="Microsoft YaHei"/>
              </a:rPr>
              <a:t>样板三：湖南省人民医院途中急症应急绿通：</a:t>
            </a:r>
            <a:r>
              <a:rPr sz="1050">
                <a:solidFill>
                  <a:srgbClr val="334155"/>
                </a:solidFill>
                <a:latin typeface="Microsoft YaHei"/>
              </a:rPr>
              <a:t>黄兴路突发胸闷险情，500ms秒级打断休闲路线，重划直达天心阁院区急诊绿通。</a:t>
            </a:r>
          </a:p>
          <a:p>
            <a:pPr>
              <a:spcBef>
                <a:spcPts val="700"/>
              </a:spcBef>
            </a:pPr>
            <a:r>
              <a:rPr sz="1100" b="1">
                <a:solidFill>
                  <a:srgbClr val="008DDA"/>
                </a:solidFill>
              </a:rPr>
              <a:t>● </a:t>
            </a:r>
            <a:r>
              <a:rPr sz="1100" b="1">
                <a:solidFill>
                  <a:srgbClr val="0F172A"/>
                </a:solidFill>
                <a:latin typeface="Microsoft YaHei"/>
              </a:rPr>
              <a:t>全省复制与产业升级：</a:t>
            </a:r>
            <a:r>
              <a:rPr sz="1050">
                <a:solidFill>
                  <a:srgbClr val="334155"/>
                </a:solidFill>
                <a:latin typeface="Microsoft YaHei"/>
              </a:rPr>
              <a:t>依托湖南省北斗高精底蕴，打造全国首个在微步道尺度全面深度融合北斗的适老智能体示范标杆。</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【请在此插入：湖南本地三大示范点微地理实景地图 / 路线规划实景对照图】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09728" cy="4206240"/>
          </a:xfrm>
          <a:prstGeom prst="rect">
            <a:avLst/>
          </a:prstGeom>
          <a:solidFill>
            <a:srgbClr val="008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10241280" cy="4754880"/>
          </a:xfrm>
          <a:prstGeom prst="rect">
            <a:avLst/>
          </a:prstGeom>
          <a:noFill/>
        </p:spPr>
        <p:txBody>
          <a:bodyPr wrap="square">
            <a:spAutoFit/>
          </a:bodyPr>
          <a:lstStyle/>
          <a:p>
            <a:pPr>
              <a:defRPr sz="1400" b="1">
                <a:solidFill>
                  <a:srgbClr val="008DDA"/>
                </a:solidFill>
                <a:latin typeface="Microsoft YaHei"/>
              </a:defRPr>
            </a:pPr>
            <a:r>
              <a:t>六大核心技术突破 · 重塑银发安全出行</a:t>
            </a:r>
          </a:p>
          <a:p>
            <a:pPr>
              <a:spcBef>
                <a:spcPts val="800"/>
              </a:spcBef>
              <a:defRPr sz="3000" b="1">
                <a:solidFill>
                  <a:srgbClr val="FFFFFF"/>
                </a:solidFill>
                <a:latin typeface="Microsoft YaHei"/>
              </a:defRPr>
            </a:pPr>
            <a:r>
              <a:t>仰望星空，技术顶天；脚踏实地，应用立地</a:t>
            </a:r>
          </a:p>
          <a:p>
            <a:pPr>
              <a:spcBef>
                <a:spcPts val="700"/>
              </a:spcBef>
            </a:pPr>
            <a:r>
              <a:rPr sz="1100" b="1">
                <a:solidFill>
                  <a:srgbClr val="008DDA"/>
                </a:solidFill>
              </a:rPr>
              <a:t>● </a:t>
            </a:r>
            <a:r>
              <a:rPr sz="1100" b="1">
                <a:solidFill>
                  <a:srgbClr val="0F172A"/>
                </a:solidFill>
                <a:latin typeface="Microsoft YaHei"/>
              </a:rPr>
              <a:t>① 北斗高精时空基准：</a:t>
            </a:r>
            <a:r>
              <a:rPr sz="1050">
                <a:solidFill>
                  <a:srgbClr val="334155"/>
                </a:solidFill>
                <a:latin typeface="Microsoft YaHei"/>
              </a:rPr>
              <a:t>亚米级定位(0.35m) + CGCS2000坐标系，破解人行微环境多径漂移瓶颈。</a:t>
            </a:r>
          </a:p>
          <a:p>
            <a:pPr>
              <a:spcBef>
                <a:spcPts val="700"/>
              </a:spcBef>
            </a:pPr>
            <a:r>
              <a:rPr sz="1100" b="1">
                <a:solidFill>
                  <a:srgbClr val="008DDA"/>
                </a:solidFill>
              </a:rPr>
              <a:t>● </a:t>
            </a:r>
            <a:r>
              <a:rPr sz="1100" b="1">
                <a:solidFill>
                  <a:srgbClr val="0F172A"/>
                </a:solidFill>
                <a:latin typeface="Microsoft YaHei"/>
              </a:rPr>
              <a:t>② 适老微地形代价路由：</a:t>
            </a:r>
            <a:r>
              <a:rPr sz="1050">
                <a:solidFill>
                  <a:srgbClr val="334155"/>
                </a:solidFill>
                <a:latin typeface="Microsoft YaHei"/>
              </a:rPr>
              <a:t>100%规避长台阶险坡，地表受力坡度压降70%，沿途长椅200m全覆盖。</a:t>
            </a:r>
          </a:p>
          <a:p>
            <a:pPr>
              <a:spcBef>
                <a:spcPts val="700"/>
              </a:spcBef>
            </a:pPr>
            <a:r>
              <a:rPr sz="1100" b="1">
                <a:solidFill>
                  <a:srgbClr val="008DDA"/>
                </a:solidFill>
              </a:rPr>
              <a:t>● </a:t>
            </a:r>
            <a:r>
              <a:rPr sz="1100" b="1">
                <a:solidFill>
                  <a:srgbClr val="0F172A"/>
                </a:solidFill>
                <a:latin typeface="Microsoft YaHei"/>
              </a:rPr>
              <a:t>③ 5大Agent单轮闭环：</a:t>
            </a:r>
            <a:r>
              <a:rPr sz="1050">
                <a:solidFill>
                  <a:srgbClr val="334155"/>
                </a:solidFill>
                <a:latin typeface="Microsoft YaHei"/>
              </a:rPr>
              <a:t>微内核全序事件契约，结构化AgentReport，0幻觉确定性方案生成。</a:t>
            </a:r>
          </a:p>
          <a:p>
            <a:pPr>
              <a:spcBef>
                <a:spcPts val="700"/>
              </a:spcBef>
            </a:pPr>
            <a:r>
              <a:rPr sz="1100" b="1">
                <a:solidFill>
                  <a:srgbClr val="008DDA"/>
                </a:solidFill>
              </a:rPr>
              <a:t>● </a:t>
            </a:r>
            <a:r>
              <a:rPr sz="1100" b="1">
                <a:solidFill>
                  <a:srgbClr val="0F172A"/>
                </a:solidFill>
                <a:latin typeface="Microsoft YaHei"/>
              </a:rPr>
              <a:t>④ 极致适老人机工效：</a:t>
            </a:r>
            <a:r>
              <a:rPr sz="1050">
                <a:solidFill>
                  <a:srgbClr val="334155"/>
                </a:solidFill>
                <a:latin typeface="Microsoft YaHei"/>
              </a:rPr>
              <a:t>120px大麦克风大白话直达，实景地标生活化指引，SUS可用性跃升至88.5分。</a:t>
            </a:r>
          </a:p>
          <a:p>
            <a:pPr>
              <a:spcBef>
                <a:spcPts val="700"/>
              </a:spcBef>
            </a:pPr>
            <a:r>
              <a:rPr sz="1100" b="1">
                <a:solidFill>
                  <a:srgbClr val="008DDA"/>
                </a:solidFill>
              </a:rPr>
              <a:t>● </a:t>
            </a:r>
            <a:r>
              <a:rPr sz="1100" b="1">
                <a:solidFill>
                  <a:srgbClr val="0F172A"/>
                </a:solidFill>
                <a:latin typeface="Microsoft YaHei"/>
              </a:rPr>
              <a:t>⑤ 纵深三层柔性守护：</a:t>
            </a:r>
            <a:r>
              <a:rPr sz="1050">
                <a:solidFill>
                  <a:srgbClr val="334155"/>
                </a:solidFill>
                <a:latin typeface="Microsoft YaHei"/>
              </a:rPr>
              <a:t>动态安全走廊 + 异常滞留预警 + 突发急症秒级绿通 + R6脱敏反向审计。</a:t>
            </a:r>
          </a:p>
          <a:p>
            <a:pPr>
              <a:spcBef>
                <a:spcPts val="700"/>
              </a:spcBef>
            </a:pPr>
            <a:r>
              <a:rPr sz="1100" b="1">
                <a:solidFill>
                  <a:srgbClr val="008DDA"/>
                </a:solidFill>
              </a:rPr>
              <a:t>● </a:t>
            </a:r>
            <a:r>
              <a:rPr sz="1100" b="1">
                <a:solidFill>
                  <a:srgbClr val="0F172A"/>
                </a:solidFill>
                <a:latin typeface="Microsoft YaHei"/>
              </a:rPr>
              <a:t>⑥ 软硬一体科技创意：</a:t>
            </a:r>
            <a:r>
              <a:rPr sz="1050">
                <a:solidFill>
                  <a:srgbClr val="334155"/>
                </a:solidFill>
                <a:latin typeface="Microsoft YaHei"/>
              </a:rPr>
              <a:t>50元级嵌入式北斗智能助老拐杖 + 北斗短报文盲区极限求救通信底座。</a:t>
            </a:r>
          </a:p>
          <a:p>
            <a:pPr>
              <a:spcBef>
                <a:spcPts val="1400"/>
              </a:spcBef>
              <a:defRPr sz="1300" b="1">
                <a:solidFill>
                  <a:srgbClr val="D97706"/>
                </a:solidFill>
                <a:latin typeface="Microsoft YaHei"/>
              </a:defRPr>
            </a:pPr>
            <a:r>
              <a:t>以硬核科技承托人伦温度，让中国北斗之光温暖长辈归家路！敬请各位评委专家批评指正！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